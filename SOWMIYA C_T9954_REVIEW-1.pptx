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98" r:id="rId10"/>
    <p:sldId id="2147470499" r:id="rId11"/>
    <p:sldId id="2147470501" r:id="rId12"/>
    <p:sldId id="2147470502" r:id="rId13"/>
    <p:sldId id="2147470503" r:id="rId14"/>
    <p:sldId id="2147470504" r:id="rId15"/>
    <p:sldId id="2147470505" r:id="rId16"/>
    <p:sldId id="2147470506" r:id="rId17"/>
    <p:sldId id="2147470507" r:id="rId18"/>
    <p:sldId id="2147470508" r:id="rId19"/>
    <p:sldId id="214747050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 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Self Corrective RAG with Adaptive Evidence Verification for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Hallucination Resistant Answer Generation</a:t>
            </a:r>
          </a:p>
          <a:p>
            <a:pPr algn="ctr">
              <a:defRPr/>
            </a:pPr>
            <a:endParaRPr lang="en-US" sz="28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SOWMIYA C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T9954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COLLEGE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049BB9-6004-F722-49E8-C50D9D558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>
                <a:latin typeface="+mn-lt"/>
              </a:rPr>
              <a:t>Retrieval-Augmented Generation (RAG) combines information retrieval with large language models to generate accurate answers. </a:t>
            </a:r>
          </a:p>
          <a:p>
            <a:pPr lvl="0" algn="just"/>
            <a:r>
              <a:rPr lang="en-IN" dirty="0">
                <a:latin typeface="+mn-lt"/>
              </a:rPr>
              <a:t>Traditional RAG may retrieve irrelevant or insufficient evidence, leading to hallucinated responses. </a:t>
            </a:r>
          </a:p>
          <a:p>
            <a:pPr lvl="0" algn="just"/>
            <a:r>
              <a:rPr lang="en-IN" dirty="0">
                <a:latin typeface="+mn-lt"/>
              </a:rPr>
              <a:t>This project introduces a self-corrective RAG system that verifies retrieved evidence before generating the final answer. </a:t>
            </a:r>
          </a:p>
          <a:p>
            <a:pPr lvl="0" algn="just"/>
            <a:r>
              <a:rPr lang="en-IN" dirty="0">
                <a:latin typeface="+mn-lt"/>
              </a:rPr>
              <a:t>The system improves answer accuracy, reliability, and faithfulness through adaptive evidence verification and correction.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C11E76-7859-A2A9-A697-13F916C5ED1A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BF5D696C-FEAB-AEDC-AADE-5AD566B12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>
                <a:latin typeface="+mn-lt"/>
              </a:rPr>
              <a:t>To develop a self-corrective Retrieval-Augmented Generation (RAG) system. </a:t>
            </a:r>
          </a:p>
          <a:p>
            <a:pPr lvl="0" algn="just"/>
            <a:r>
              <a:rPr lang="en-IN" dirty="0">
                <a:latin typeface="+mn-lt"/>
              </a:rPr>
              <a:t>To retrieve relevant and reliable evidence for user queries. </a:t>
            </a:r>
          </a:p>
          <a:p>
            <a:pPr lvl="0" algn="just"/>
            <a:r>
              <a:rPr lang="en-IN" dirty="0">
                <a:latin typeface="+mn-lt"/>
              </a:rPr>
              <a:t>To verify the retrieved evidence before generating answers. </a:t>
            </a:r>
          </a:p>
          <a:p>
            <a:pPr lvl="0" algn="just"/>
            <a:r>
              <a:rPr lang="en-IN" dirty="0">
                <a:latin typeface="+mn-lt"/>
              </a:rPr>
              <a:t>To identify and correct hallucinated or unsupported responses. </a:t>
            </a:r>
          </a:p>
          <a:p>
            <a:pPr lvl="0" algn="just"/>
            <a:r>
              <a:rPr lang="en-IN" dirty="0">
                <a:latin typeface="+mn-lt"/>
              </a:rPr>
              <a:t>To improve answer accuracy, faithfulness, and reliability. </a:t>
            </a:r>
          </a:p>
          <a:p>
            <a:pPr marL="0" lvl="0" indent="0" algn="just">
              <a:buNone/>
            </a:pPr>
            <a:r>
              <a:rPr lang="en-IN" dirty="0"/>
              <a:t>User Question → Retrieval → Evidence Verification → Self-Correction→ Answer Generation → Final Answer</a:t>
            </a:r>
            <a:endParaRPr lang="en-IN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8CCF85-E3FF-0E95-59ED-BFE324449973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6F6E3EC8-293A-7331-10B3-2C2BE5447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The system can retrieve relevant information from large document collections using RAG techniques. </a:t>
            </a:r>
          </a:p>
          <a:p>
            <a:pPr lvl="0"/>
            <a:r>
              <a:rPr lang="en-IN" dirty="0">
                <a:latin typeface="+mn-lt"/>
              </a:rPr>
              <a:t>It can verify generated answers using supporting evidence and detect unsupported information. </a:t>
            </a:r>
          </a:p>
          <a:p>
            <a:pPr lvl="0"/>
            <a:r>
              <a:rPr lang="en-IN" dirty="0">
                <a:latin typeface="+mn-lt"/>
              </a:rPr>
              <a:t>It can automatically correct incorrect or hallucinated answers through iterative retrieval and generation. </a:t>
            </a:r>
          </a:p>
          <a:p>
            <a:pPr lvl="0"/>
            <a:r>
              <a:rPr lang="en-IN" dirty="0">
                <a:latin typeface="+mn-lt"/>
              </a:rPr>
              <a:t>The system can be extended to different domains such as education, healthcare, business, and technical support. </a:t>
            </a:r>
          </a:p>
          <a:p>
            <a:pPr lvl="0"/>
            <a:r>
              <a:rPr lang="en-IN" dirty="0">
                <a:latin typeface="+mn-lt"/>
              </a:rPr>
              <a:t>It can be integrated with user-friendly interfaces such as </a:t>
            </a:r>
            <a:r>
              <a:rPr lang="en-IN" dirty="0" err="1">
                <a:latin typeface="+mn-lt"/>
              </a:rPr>
              <a:t>Streamlit</a:t>
            </a:r>
            <a:r>
              <a:rPr lang="en-IN" dirty="0">
                <a:latin typeface="+mn-lt"/>
              </a:rPr>
              <a:t> for real-time question answering.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F984EE-FCFB-D29C-9024-E732E88601D6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E4450394-3766-2D74-A4E3-35F17C0F5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dirty="0">
                <a:latin typeface="+mn-lt"/>
              </a:rPr>
              <a:t>SURE-RAG (Qiu et al., 2026) – Verifies whether retrieved evidence is sufficient and reliable before answering.</a:t>
            </a:r>
          </a:p>
          <a:p>
            <a:r>
              <a:rPr lang="en-IN" dirty="0">
                <a:latin typeface="+mn-lt"/>
              </a:rPr>
              <a:t>Diagnosing and Repairing Factual Errors in RAG (</a:t>
            </a:r>
            <a:r>
              <a:rPr lang="en-IN" dirty="0" err="1">
                <a:latin typeface="+mn-lt"/>
              </a:rPr>
              <a:t>Hashemifar</a:t>
            </a:r>
            <a:r>
              <a:rPr lang="en-IN" dirty="0">
                <a:latin typeface="+mn-lt"/>
              </a:rPr>
              <a:t> et al., 2026) – Detects and corrects factual errors in RAG responses. </a:t>
            </a:r>
          </a:p>
          <a:p>
            <a:r>
              <a:rPr lang="en-IN" dirty="0">
                <a:latin typeface="+mn-lt"/>
              </a:rPr>
              <a:t>Debate-Augmented RAG (Hu et al., 2025) – Uses multi-agent debate to improve evidence reliability and reduce hallucinations.</a:t>
            </a:r>
          </a:p>
          <a:p>
            <a:pPr marL="0" indent="0"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0AACE-3F03-FAD3-3E01-B8FE8106B2C3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D530DB8C-7827-DF42-BDF2-CFC4033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Recent studies show that RAG improves the factuality and reliability of LLM responses. </a:t>
            </a:r>
          </a:p>
          <a:p>
            <a:pPr lvl="0"/>
            <a:r>
              <a:rPr lang="en-IN" dirty="0">
                <a:latin typeface="+mn-lt"/>
              </a:rPr>
              <a:t>SURE-RAG focuses on verifying whether retrieved evidence is sufficient before answering. </a:t>
            </a:r>
          </a:p>
          <a:p>
            <a:pPr lvl="0"/>
            <a:r>
              <a:rPr lang="en-IN" dirty="0">
                <a:latin typeface="+mn-lt"/>
              </a:rPr>
              <a:t>DRAG uses multi-agent debate to improve retrieval quality and reduce hallucinations. </a:t>
            </a:r>
          </a:p>
          <a:p>
            <a:pPr lvl="0"/>
            <a:r>
              <a:rPr lang="en-IN" dirty="0">
                <a:latin typeface="+mn-lt"/>
              </a:rPr>
              <a:t>These approaches demonstrate the importance of evidence verification and self-correction in RAG systems. </a:t>
            </a:r>
          </a:p>
          <a:p>
            <a:pPr lvl="0"/>
            <a:r>
              <a:rPr lang="en-IN" dirty="0">
                <a:latin typeface="+mn-lt"/>
              </a:rPr>
              <a:t>Therefore, the proposed project aims to combine adaptive evidence verification and self-correction to generate more accurate and trustworthy answers.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8FFD5-157D-C269-394D-516F5FDF852C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3514B747-B9AA-99E2-0025-B4ED76A47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The system can use Hotpot QA as the benchmark dataset for multi-hop question answering. </a:t>
            </a:r>
          </a:p>
          <a:p>
            <a:pPr lvl="0"/>
            <a:r>
              <a:rPr lang="en-IN" dirty="0">
                <a:latin typeface="+mn-lt"/>
              </a:rPr>
              <a:t>Sentence Transformers can convert documents and queries into embeddings for semantic retrieval. </a:t>
            </a:r>
          </a:p>
          <a:p>
            <a:pPr lvl="0"/>
            <a:r>
              <a:rPr lang="en-IN" dirty="0">
                <a:latin typeface="+mn-lt"/>
              </a:rPr>
              <a:t>Chroma DB can store and retrieve the generated document embeddings efficiently. </a:t>
            </a:r>
          </a:p>
          <a:p>
            <a:pPr lvl="0"/>
            <a:r>
              <a:rPr lang="en-IN" dirty="0">
                <a:latin typeface="+mn-lt"/>
              </a:rPr>
              <a:t>A verification module checks whether the retrieved passages actually support the generated answer. </a:t>
            </a:r>
          </a:p>
          <a:p>
            <a:pPr lvl="0"/>
            <a:r>
              <a:rPr lang="en-IN" dirty="0">
                <a:latin typeface="+mn-lt"/>
              </a:rPr>
              <a:t>The final system can be deployed through a simple </a:t>
            </a:r>
            <a:r>
              <a:rPr lang="en-IN" dirty="0" err="1">
                <a:latin typeface="+mn-lt"/>
              </a:rPr>
              <a:t>Streamlit</a:t>
            </a:r>
            <a:r>
              <a:rPr lang="en-IN" dirty="0">
                <a:latin typeface="+mn-lt"/>
              </a:rPr>
              <a:t> interface for interactive question answering.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F59BF2-1686-823E-E1FC-66198362CA48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5278245C-F37C-1177-D328-5E72E786E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  <a:cs typeface="Lao UI" panose="020F0502020204030204" pitchFamily="34" charset="0"/>
              </a:rPr>
              <a:t>Module 1 – Dataset Collection &amp; Preprocessing</a:t>
            </a:r>
          </a:p>
          <a:p>
            <a:pPr lvl="0"/>
            <a:r>
              <a:rPr lang="en-IN" dirty="0">
                <a:latin typeface="+mn-lt"/>
                <a:cs typeface="Lao UI" panose="020F0502020204030204" pitchFamily="34" charset="0"/>
              </a:rPr>
              <a:t>Collect the </a:t>
            </a:r>
            <a:r>
              <a:rPr lang="en-IN" dirty="0" err="1">
                <a:latin typeface="+mn-lt"/>
                <a:cs typeface="Lao UI" panose="020F0502020204030204" pitchFamily="34" charset="0"/>
              </a:rPr>
              <a:t>HotpotQA</a:t>
            </a:r>
            <a:r>
              <a:rPr lang="en-IN" dirty="0">
                <a:latin typeface="+mn-lt"/>
                <a:cs typeface="Lao UI" panose="020F0502020204030204" pitchFamily="34" charset="0"/>
              </a:rPr>
              <a:t> dataset. </a:t>
            </a:r>
          </a:p>
          <a:p>
            <a:pPr lvl="0"/>
            <a:r>
              <a:rPr lang="en-IN" dirty="0">
                <a:latin typeface="+mn-lt"/>
                <a:cs typeface="Lao UI" panose="020F0502020204030204" pitchFamily="34" charset="0"/>
              </a:rPr>
              <a:t>Clean and preprocess questions, answers, and supporting documents. </a:t>
            </a:r>
          </a:p>
          <a:p>
            <a:pPr lvl="0"/>
            <a:r>
              <a:rPr lang="en-IN" dirty="0">
                <a:latin typeface="+mn-lt"/>
                <a:cs typeface="Lao UI" panose="020F0502020204030204" pitchFamily="34" charset="0"/>
              </a:rPr>
              <a:t>Split the data into suitable training/testing sets.</a:t>
            </a:r>
          </a:p>
          <a:p>
            <a:pPr marL="0" indent="0">
              <a:buNone/>
            </a:pPr>
            <a:r>
              <a:rPr lang="en-IN" dirty="0"/>
              <a:t>Module 2 – Document Processing &amp; Vector Database</a:t>
            </a:r>
          </a:p>
          <a:p>
            <a:pPr lvl="0"/>
            <a:r>
              <a:rPr lang="en-IN" dirty="0"/>
              <a:t>Convert documents into chunks. </a:t>
            </a:r>
          </a:p>
          <a:p>
            <a:pPr lvl="0"/>
            <a:r>
              <a:rPr lang="en-IN" dirty="0"/>
              <a:t>Generate embeddings using Sentence Transformers. </a:t>
            </a:r>
          </a:p>
          <a:p>
            <a:pPr lvl="0"/>
            <a:r>
              <a:rPr lang="en-IN" dirty="0"/>
              <a:t>Store embeddings in </a:t>
            </a:r>
            <a:r>
              <a:rPr lang="en-IN" dirty="0" err="1"/>
              <a:t>ChromaDB</a:t>
            </a:r>
            <a:r>
              <a:rPr lang="en-IN" dirty="0"/>
              <a:t> for semantic retrieval.</a:t>
            </a:r>
          </a:p>
          <a:p>
            <a:pPr marL="0" lvl="0" indent="0">
              <a:buNone/>
            </a:pPr>
            <a:endParaRPr lang="en-IN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573761-ACC2-A6F3-69B2-418BB734A313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9553BEA5-6043-8B3E-7B4C-4DA9A7919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9A14B1-F421-15CE-279F-1FC3FDE08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215176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>
                <a:latin typeface="+mn-lt"/>
              </a:rPr>
              <a:t>Module 3 - Query &amp; Evidence Retrieval</a:t>
            </a:r>
          </a:p>
          <a:p>
            <a:pPr lvl="0" algn="just"/>
            <a:r>
              <a:rPr lang="en-IN" dirty="0">
                <a:latin typeface="+mn-lt"/>
              </a:rPr>
              <a:t>Accept the user's question. </a:t>
            </a:r>
          </a:p>
          <a:p>
            <a:pPr lvl="0" algn="just"/>
            <a:r>
              <a:rPr lang="en-IN" dirty="0">
                <a:latin typeface="+mn-lt"/>
              </a:rPr>
              <a:t>Retrieve the most relevant document passages from the vector database.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Module 4 – Adaptive Evidence Verification</a:t>
            </a:r>
          </a:p>
          <a:p>
            <a:pPr lvl="0"/>
            <a:r>
              <a:rPr lang="en-IN" dirty="0">
                <a:latin typeface="+mn-lt"/>
              </a:rPr>
              <a:t>Check the relevance and sufficiency of retrieved evidence. </a:t>
            </a:r>
          </a:p>
          <a:p>
            <a:pPr lvl="0"/>
            <a:r>
              <a:rPr lang="en-IN" dirty="0">
                <a:latin typeface="+mn-lt"/>
              </a:rPr>
              <a:t>Identify irrelevant or insufficient passages.</a:t>
            </a:r>
          </a:p>
          <a:p>
            <a:pPr lvl="0"/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lvl="0" indent="0" algn="just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833F7-647B-811C-5520-55342FBD44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to cover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E20B68-8C71-BB26-F953-3E485688E6A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E068CF-F572-8178-2BFC-7AC7F9A48767}"/>
              </a:ext>
            </a:extLst>
          </p:cNvPr>
          <p:cNvSpPr txBox="1"/>
          <p:nvPr/>
        </p:nvSpPr>
        <p:spPr>
          <a:xfrm>
            <a:off x="8154649" y="1948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72CC3-5C07-8A67-B49F-52C6B9E11F19}"/>
              </a:ext>
            </a:extLst>
          </p:cNvPr>
          <p:cNvSpPr txBox="1"/>
          <p:nvPr/>
        </p:nvSpPr>
        <p:spPr>
          <a:xfrm>
            <a:off x="6098500" y="-225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/>
              <a:t>Self Corrective RAG With Adaptive Evidence Verification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4666A-62D8-C4C6-A8C3-A32799F97FA2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 descr="LTM Limited (Formerly LTIMindtree Limited)">
            <a:extLst>
              <a:ext uri="{FF2B5EF4-FFF2-40B4-BE49-F238E27FC236}">
                <a16:creationId xmlns:a16="http://schemas.microsoft.com/office/drawing/2014/main" id="{6ED0346F-3417-368C-A055-31122E3E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281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76E7B1-D342-964F-E418-C5549A854A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10624338" cy="4574937"/>
          </a:xfrm>
        </p:spPr>
        <p:txBody>
          <a:bodyPr/>
          <a:lstStyle/>
          <a:p>
            <a:r>
              <a:rPr lang="en-IN" dirty="0">
                <a:latin typeface="+mn-lt"/>
              </a:rPr>
              <a:t>Module 5 – Self-Correction &amp; Answer Generation</a:t>
            </a:r>
          </a:p>
          <a:p>
            <a:pPr lvl="0"/>
            <a:r>
              <a:rPr lang="en-IN" dirty="0">
                <a:latin typeface="+mn-lt"/>
              </a:rPr>
              <a:t>Generate an answer using verified evidence. </a:t>
            </a:r>
          </a:p>
          <a:p>
            <a:pPr lvl="0"/>
            <a:r>
              <a:rPr lang="en-IN" dirty="0">
                <a:latin typeface="+mn-lt"/>
              </a:rPr>
              <a:t>If evidence is insufficient, re-retrieve or correct the response.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Module 6 – Evaluation &amp; User Interface</a:t>
            </a:r>
          </a:p>
          <a:p>
            <a:pPr lvl="0"/>
            <a:r>
              <a:rPr lang="en-IN" dirty="0">
                <a:latin typeface="+mn-lt"/>
              </a:rPr>
              <a:t>Evaluate accuracy, faithfulness, retrieval relevance, and hallucination reduction. </a:t>
            </a:r>
          </a:p>
          <a:p>
            <a:pPr lvl="0"/>
            <a:r>
              <a:rPr lang="en-IN" dirty="0">
                <a:latin typeface="+mn-lt"/>
              </a:rPr>
              <a:t>Develop a simple Stream lit interface for users to ask questions and view answers. 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8045F-307D-1778-162D-80B2760967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to cover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DF5DE2-E6D4-A5EB-3338-81187D2E231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2B911FE-0373-D5B2-3AE9-3E723AAAAA29}"/>
              </a:ext>
            </a:extLst>
          </p:cNvPr>
          <p:cNvSpPr txBox="1"/>
          <p:nvPr/>
        </p:nvSpPr>
        <p:spPr>
          <a:xfrm>
            <a:off x="6098500" y="-2303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/>
              <a:t>Self Corrective RAG With Adaptive Evidence Verification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CCD6D-3A1F-B712-CE19-776F9DE666F5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2E2F41CB-2F7A-045F-9E7D-0F6AC51BD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743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 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Hierarchical Multi-Agent AI for Autonomous Task Decomposition, Planning, and Collaborative Execution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endParaRPr lang="en-US" sz="5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>
                <a:solidFill>
                  <a:prstClr val="white"/>
                </a:solidFill>
                <a:cs typeface="Calibri" panose="020F0502020204030204" pitchFamily="34" charset="0"/>
              </a:rPr>
              <a:t>SOWMIYA 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T9954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COLLEGE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1284" y="5198178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2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>
                <a:latin typeface="+mn-lt"/>
              </a:rPr>
              <a:t>Multi-Agent AI uses multiple intelligent agents to solve complex tasks collaboratively. </a:t>
            </a:r>
          </a:p>
          <a:p>
            <a:pPr lvl="0" algn="just"/>
            <a:r>
              <a:rPr lang="en-IN" dirty="0">
                <a:latin typeface="+mn-lt"/>
              </a:rPr>
              <a:t>The system divides a complex task into smaller subtasks using hierarchical task decomposition. </a:t>
            </a:r>
          </a:p>
          <a:p>
            <a:pPr lvl="0" algn="just"/>
            <a:r>
              <a:rPr lang="en-IN" dirty="0">
                <a:latin typeface="+mn-lt"/>
              </a:rPr>
              <a:t>Different agents perform planning, reasoning, and execution according to their assigned roles. </a:t>
            </a:r>
          </a:p>
          <a:p>
            <a:pPr lvl="0" algn="just"/>
            <a:r>
              <a:rPr lang="en-IN" dirty="0">
                <a:latin typeface="+mn-lt"/>
              </a:rPr>
              <a:t>Agents communicate and share results to improve coordination and task completion. </a:t>
            </a:r>
          </a:p>
          <a:p>
            <a:pPr lvl="0" algn="just"/>
            <a:r>
              <a:rPr lang="en-IN" dirty="0">
                <a:latin typeface="+mn-lt"/>
              </a:rPr>
              <a:t>The proposed system aims to provide autonomous, efficient, and reliable task execution.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C983E9-C510-E6B3-DBE8-3350527155D3}"/>
              </a:ext>
            </a:extLst>
          </p:cNvPr>
          <p:cNvSpPr txBox="1"/>
          <p:nvPr/>
        </p:nvSpPr>
        <p:spPr>
          <a:xfrm>
            <a:off x="3627620" y="-14990"/>
            <a:ext cx="907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Multi-Agent AI for Autonomous Task Decomposition, Planning, and Collaborative Execution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1C58B-C343-AA32-CA66-29776347B1D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EFDC4B-9149-34F6-570D-FBFED17BC6A5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0" name="Picture 19" descr="LTM Limited (Formerly LTIMindtree Limited)">
            <a:extLst>
              <a:ext uri="{FF2B5EF4-FFF2-40B4-BE49-F238E27FC236}">
                <a16:creationId xmlns:a16="http://schemas.microsoft.com/office/drawing/2014/main" id="{F8E3846A-E6F2-A255-E448-DFFD704DC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10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dirty="0">
                <a:latin typeface="+mn-lt"/>
              </a:rPr>
              <a:t>T</a:t>
            </a:r>
            <a:r>
              <a:rPr lang="en-IN" dirty="0">
                <a:latin typeface="+mn-lt"/>
              </a:rPr>
              <a:t>o develop a hierarchical multi-agent AI system for autonomous task solving. </a:t>
            </a:r>
          </a:p>
          <a:p>
            <a:pPr lvl="0" algn="just"/>
            <a:r>
              <a:rPr lang="en-IN" dirty="0">
                <a:latin typeface="+mn-lt"/>
              </a:rPr>
              <a:t>To decompose complex tasks into smaller and manageable subtasks. </a:t>
            </a:r>
          </a:p>
          <a:p>
            <a:pPr lvl="0" algn="just"/>
            <a:r>
              <a:rPr lang="en-IN" dirty="0">
                <a:latin typeface="+mn-lt"/>
              </a:rPr>
              <a:t>To assign subtasks to specialized agents based on their roles and capabilities. </a:t>
            </a:r>
          </a:p>
          <a:p>
            <a:pPr lvl="0" algn="just"/>
            <a:r>
              <a:rPr lang="en-IN" dirty="0">
                <a:latin typeface="+mn-lt"/>
              </a:rPr>
              <a:t>To enable agents to communicate, coordinate, and share results effectively. </a:t>
            </a:r>
          </a:p>
          <a:p>
            <a:pPr lvl="0" algn="just"/>
            <a:r>
              <a:rPr lang="en-IN" dirty="0">
                <a:latin typeface="+mn-lt"/>
              </a:rPr>
              <a:t>To achieve efficient, autonomous, and reliable task planning and execution</a:t>
            </a:r>
            <a:r>
              <a:rPr lang="en-IN" sz="2400" dirty="0">
                <a:latin typeface="+mn-lt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017363" y="45363"/>
            <a:ext cx="931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Multi-Agent AI for Autonomous Task Decomposition, Planning, Collaborative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F1F2D0-A3A4-A2D1-4623-6EB5E629F76F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96F2300B-5325-5A56-3A5D-76D6504FF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31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>
                <a:latin typeface="+mn-lt"/>
              </a:rPr>
              <a:t>Focuses on autonomous task management using multiple cooperating AI agents. </a:t>
            </a:r>
          </a:p>
          <a:p>
            <a:pPr lvl="0" algn="just"/>
            <a:r>
              <a:rPr lang="en-IN" dirty="0">
                <a:latin typeface="+mn-lt"/>
              </a:rPr>
              <a:t>Covers IT-related workflows, such as coding assistance, debugging, documentation, and technical research. </a:t>
            </a:r>
          </a:p>
          <a:p>
            <a:pPr lvl="0" algn="just"/>
            <a:r>
              <a:rPr lang="en-IN" dirty="0">
                <a:latin typeface="+mn-lt"/>
              </a:rPr>
              <a:t>Supports role-based agents, where each agent handles a specific type of task. </a:t>
            </a:r>
          </a:p>
          <a:p>
            <a:pPr lvl="0" algn="just"/>
            <a:r>
              <a:rPr lang="en-IN" dirty="0">
                <a:latin typeface="+mn-lt"/>
              </a:rPr>
              <a:t>Can be extended to business workflows, research activities, and productivity automation. </a:t>
            </a:r>
          </a:p>
          <a:p>
            <a:pPr lvl="0" algn="just"/>
            <a:r>
              <a:rPr lang="en-IN" dirty="0">
                <a:latin typeface="+mn-lt"/>
              </a:rPr>
              <a:t>Provides a foundation for future scalable and intelligent autonomous systems.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492709" y="57036"/>
            <a:ext cx="869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Multi-Agent AI for Autonomous Task Decomposition, Planning, and Collaborative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9F1A79-F7E5-AD7C-C7A9-A123974639B6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11486537-BF4D-7CDA-8730-0F28EBD55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25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/>
              <a:t>Agent-Oriented Planning (Li et al., 2025) – Improves task decomposition and agent assignment for complex tasks. </a:t>
            </a:r>
          </a:p>
          <a:p>
            <a:pPr lvl="0" algn="just"/>
            <a:r>
              <a:rPr lang="en-IN" dirty="0"/>
              <a:t>TDAG (Wang et al., 2025) – Dynamically breaks tasks into subtasks and creates suitable agents. </a:t>
            </a:r>
          </a:p>
          <a:p>
            <a:pPr lvl="0" algn="just"/>
            <a:r>
              <a:rPr lang="en-IN" dirty="0" err="1"/>
              <a:t>MultiAgentBench</a:t>
            </a:r>
            <a:r>
              <a:rPr lang="en-IN" dirty="0"/>
              <a:t> (Zhu et al., 2025) – Evaluates multi-agent collaboration, communication, and task completion.</a:t>
            </a:r>
          </a:p>
          <a:p>
            <a:pPr marL="0" indent="0" algn="just"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3612630" y="39535"/>
            <a:ext cx="8849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Multi-Agent AI for Autonomous Task Decomposition, Planning, and Collaborative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584EEF-99D7-3E34-461C-3C43003C5488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9EC188D6-3D53-CF8D-8FEC-EEF8880C4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75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>
                <a:latin typeface="+mn-lt"/>
              </a:rPr>
              <a:t>Recent research shows that multi-agent AI can solve complex tasks through collaboration. </a:t>
            </a:r>
          </a:p>
          <a:p>
            <a:pPr lvl="0" algn="just"/>
            <a:r>
              <a:rPr lang="en-IN" dirty="0">
                <a:latin typeface="+mn-lt"/>
              </a:rPr>
              <a:t>Studies focus on task decomposition, planning, communication, and role-based agent coordination. </a:t>
            </a:r>
          </a:p>
          <a:p>
            <a:pPr lvl="0" algn="just"/>
            <a:r>
              <a:rPr lang="en-IN" dirty="0">
                <a:latin typeface="+mn-lt"/>
              </a:rPr>
              <a:t>Dynamic approaches allow agents to adapt their tasks and strategies during execution. </a:t>
            </a:r>
          </a:p>
          <a:p>
            <a:pPr lvl="0" algn="just"/>
            <a:r>
              <a:rPr lang="en-IN" dirty="0">
                <a:latin typeface="+mn-lt"/>
              </a:rPr>
              <a:t>Research also highlights challenges such as communication overhead, error propagation, and coordination. </a:t>
            </a:r>
          </a:p>
          <a:p>
            <a:pPr lvl="0" algn="just"/>
            <a:r>
              <a:rPr lang="en-IN" dirty="0">
                <a:latin typeface="+mn-lt"/>
              </a:rPr>
              <a:t>These findings support the proposed Hierarchical Multi-Agent AI system for autonomous task planning and collaborative execution.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3612630" y="-14990"/>
            <a:ext cx="913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Multi-Agent AI for Autonomous Task Decomposition, Planning, and Collaborative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CE702D-5C78-4431-1E8B-168D58E08507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4512E287-2A58-1B4B-5260-8DB84167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83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>
                <a:latin typeface="+mn-lt"/>
              </a:rPr>
              <a:t>The system can use Manager, Planner, Researcher, Coder, and Reviewer agents with separate responsibilities. </a:t>
            </a:r>
          </a:p>
          <a:p>
            <a:pPr lvl="0" algn="just"/>
            <a:r>
              <a:rPr lang="en-IN" dirty="0">
                <a:latin typeface="+mn-lt"/>
              </a:rPr>
              <a:t>A central coordinator can assign subtasks and monitor the progress of each agent. </a:t>
            </a:r>
          </a:p>
          <a:p>
            <a:pPr lvl="0" algn="just"/>
            <a:r>
              <a:rPr lang="en-IN" dirty="0">
                <a:latin typeface="+mn-lt"/>
              </a:rPr>
              <a:t>Agents can use LLMs, tools, APIs, and memory to complete their assigned tasks. </a:t>
            </a:r>
          </a:p>
          <a:p>
            <a:pPr lvl="0" algn="just"/>
            <a:r>
              <a:rPr lang="en-IN" dirty="0">
                <a:latin typeface="+mn-lt"/>
              </a:rPr>
              <a:t>A feedback mechanism can detect failures and reassign or revise tasks when necessary. </a:t>
            </a:r>
          </a:p>
          <a:p>
            <a:pPr lvl="0" algn="just"/>
            <a:r>
              <a:rPr lang="en-IN" dirty="0">
                <a:latin typeface="+mn-lt"/>
              </a:rPr>
              <a:t>The system can be implemented for IT automation, coding, research, and workflow management. Recent hierarchical-agent research supports this type of planning, delegation, and specialized-agent collaboration.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657600" y="0"/>
            <a:ext cx="880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Multi-Agent AI for Autonomous Task Decomposition, Planning, and Collaborative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4291F0-B6A0-1097-A15D-0C8982CE8618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53DDEEEF-BA9A-9557-AB19-3C14FB640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75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619913"/>
          </a:xfrm>
        </p:spPr>
        <p:txBody>
          <a:bodyPr/>
          <a:lstStyle/>
          <a:p>
            <a:r>
              <a:rPr lang="en-IN" dirty="0">
                <a:latin typeface="+mn-lt"/>
              </a:rPr>
              <a:t>Module 1 – User Task Input &amp; Analysis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Receives the user's task and identifies the main goal, requirements, and expected output.</a:t>
            </a:r>
          </a:p>
          <a:p>
            <a:r>
              <a:rPr lang="en-IN" dirty="0">
                <a:latin typeface="+mn-lt"/>
              </a:rPr>
              <a:t>Module 2 – Hierarchical Task Decomposition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Breaks the complex task into smaller, manageable subtasks.</a:t>
            </a:r>
          </a:p>
          <a:p>
            <a:r>
              <a:rPr lang="en-IN" dirty="0">
                <a:latin typeface="+mn-lt"/>
              </a:rPr>
              <a:t>Module 3 – Agent Selection &amp; Assignment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Selects suitable specialized agents and assigns each subtask according to its role.</a:t>
            </a:r>
          </a:p>
          <a:p>
            <a:r>
              <a:rPr lang="en-IN" dirty="0">
                <a:latin typeface="+mn-lt"/>
              </a:rPr>
              <a:t>Module 4 – Planning &amp; Coordination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Creates the execution sequence and coordinates communication between agents.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FB4833E-04E7-230C-3614-53BFB7D50B1A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48165F75-4CFA-15BF-6F3F-38D5F7D95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825412-8624-C43A-CE36-FD892A9CDEC0}"/>
              </a:ext>
            </a:extLst>
          </p:cNvPr>
          <p:cNvSpPr txBox="1"/>
          <p:nvPr/>
        </p:nvSpPr>
        <p:spPr>
          <a:xfrm>
            <a:off x="3612628" y="-11902"/>
            <a:ext cx="8814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Multi-Agent AI for Autonomous Task Decomposition, Planning, and Collaborative Execution</a:t>
            </a:r>
          </a:p>
        </p:txBody>
      </p:sp>
    </p:spTree>
    <p:extLst>
      <p:ext uri="{BB962C8B-B14F-4D97-AF65-F5344CB8AC3E}">
        <p14:creationId xmlns:p14="http://schemas.microsoft.com/office/powerpoint/2010/main" val="413737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4627FF-2F8D-970A-6466-BCD1A4AD33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24"/>
          </a:xfrm>
        </p:spPr>
        <p:txBody>
          <a:bodyPr/>
          <a:lstStyle/>
          <a:p>
            <a:r>
              <a:rPr lang="en-IN" dirty="0"/>
              <a:t>Module 5 – Collaborative Task Execution</a:t>
            </a:r>
            <a:br>
              <a:rPr lang="en-IN" dirty="0"/>
            </a:br>
            <a:r>
              <a:rPr lang="en-IN" dirty="0"/>
              <a:t>Agents independently perform their assigned subtasks and exchange results.</a:t>
            </a:r>
          </a:p>
          <a:p>
            <a:r>
              <a:rPr lang="en-IN" dirty="0"/>
              <a:t>Module 6 – Result Verification &amp; Self-Correction</a:t>
            </a:r>
            <a:br>
              <a:rPr lang="en-IN" dirty="0"/>
            </a:br>
            <a:r>
              <a:rPr lang="en-IN" dirty="0"/>
              <a:t>Reviews the intermediate results, detects errors, and requests corrections when required.</a:t>
            </a:r>
          </a:p>
          <a:p>
            <a:r>
              <a:rPr lang="en-IN" dirty="0"/>
              <a:t>Module 7 – Final Result Generation</a:t>
            </a:r>
            <a:br>
              <a:rPr lang="en-IN" dirty="0"/>
            </a:br>
            <a:r>
              <a:rPr lang="en-IN" dirty="0"/>
              <a:t>Combines the completed subtasks and produces the final response/output for the user.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DA6E1-D727-0D64-34BA-C35F41F945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+mn-lt"/>
              </a:rPr>
              <a:t>Modules to cover</a:t>
            </a:r>
          </a:p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CD50F2-3170-EA71-1095-5507E91201E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3E02E9A-2565-AA73-FB65-E68037D22F7B}"/>
              </a:ext>
            </a:extLst>
          </p:cNvPr>
          <p:cNvSpPr txBox="1"/>
          <p:nvPr/>
        </p:nvSpPr>
        <p:spPr>
          <a:xfrm>
            <a:off x="3492709" y="0"/>
            <a:ext cx="9538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Multi-Agent AI for Autonomous Task Decomposition, Planning, and Collaborative Execution</a:t>
            </a:r>
          </a:p>
          <a:p>
            <a:endParaRPr lang="en-IN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41FED1-1513-F07A-7EE3-6888210B75F0}"/>
              </a:ext>
            </a:extLst>
          </p:cNvPr>
          <p:cNvSpPr/>
          <p:nvPr/>
        </p:nvSpPr>
        <p:spPr>
          <a:xfrm>
            <a:off x="10546975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2" name="Picture 11" descr="LTM Limited (Formerly LTIMindtree Limited)">
            <a:extLst>
              <a:ext uri="{FF2B5EF4-FFF2-40B4-BE49-F238E27FC236}">
                <a16:creationId xmlns:a16="http://schemas.microsoft.com/office/drawing/2014/main" id="{76B72E11-C20A-4B6E-0A56-F5FA3F3C8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7075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1417</Words>
  <Application>Microsoft Office PowerPoint</Application>
  <PresentationFormat>Widescreen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Sowmiya C</cp:lastModifiedBy>
  <cp:revision>22</cp:revision>
  <dcterms:created xsi:type="dcterms:W3CDTF">2024-05-13T10:33:11Z</dcterms:created>
  <dcterms:modified xsi:type="dcterms:W3CDTF">2026-10-14T16:26:08Z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