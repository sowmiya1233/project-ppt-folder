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497" r:id="rId7"/>
    <p:sldId id="2147470498" r:id="rId8"/>
    <p:sldId id="2147470500" r:id="rId9"/>
    <p:sldId id="2147470499" r:id="rId10"/>
    <p:sldId id="2147470501" r:id="rId11"/>
    <p:sldId id="2147470502" r:id="rId12"/>
    <p:sldId id="2147470503" r:id="rId13"/>
    <p:sldId id="2147470504" r:id="rId14"/>
    <p:sldId id="2147470505" r:id="rId15"/>
    <p:sldId id="2147470506" r:id="rId16"/>
    <p:sldId id="2147470507" r:id="rId17"/>
    <p:sldId id="2147470508" r:id="rId18"/>
    <p:sldId id="214747050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7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 I</a:t>
            </a:r>
          </a:p>
          <a:p>
            <a:pPr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   Self-Corrective RAG with Adaptive Evidence Verification for Hallucination-Resistant Answer Generation</a:t>
            </a: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SOWMIYA C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T9954 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CRESCENT COLLEGE</a:t>
            </a:r>
          </a:p>
          <a:p>
            <a:pPr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613277-01D9-2A94-7DB1-B7900F40F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4443" y="5108304"/>
            <a:ext cx="4201139" cy="210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 algn="just"/>
            <a:r>
              <a:rPr lang="en-IN" sz="2400" dirty="0">
                <a:latin typeface="+mn-lt"/>
              </a:rPr>
              <a:t>Retrieval-Augmented Generation (RAG) combines information retrieval with large language models to generate accurate answers. </a:t>
            </a:r>
          </a:p>
          <a:p>
            <a:pPr lvl="0" algn="just"/>
            <a:r>
              <a:rPr lang="en-IN" sz="2400" dirty="0">
                <a:latin typeface="+mn-lt"/>
              </a:rPr>
              <a:t>Traditional RAG may retrieve irrelevant or insufficient evidence, leading to hallucinated responses. </a:t>
            </a:r>
          </a:p>
          <a:p>
            <a:pPr lvl="0" algn="just"/>
            <a:r>
              <a:rPr lang="en-IN" sz="2400" dirty="0">
                <a:latin typeface="+mn-lt"/>
              </a:rPr>
              <a:t>This project introduces a self-corrective RAG system that verifies retrieved evidence before generating the final answer. </a:t>
            </a:r>
          </a:p>
          <a:p>
            <a:pPr lvl="0" algn="just"/>
            <a:r>
              <a:rPr lang="en-IN" sz="2400" dirty="0">
                <a:latin typeface="+mn-lt"/>
              </a:rPr>
              <a:t>The system improves answer accuracy, reliability, and faithfulness through adaptive evidence verification and correction.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8701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Self Corrective RAG With Adaptive Evidence Verification 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D009B5-7FAF-F212-E75B-46890847392D}"/>
              </a:ext>
            </a:extLst>
          </p:cNvPr>
          <p:cNvSpPr/>
          <p:nvPr/>
        </p:nvSpPr>
        <p:spPr>
          <a:xfrm>
            <a:off x="10527540" y="653467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7" name="Picture 16" descr="LTM Limited (Formerly LTIMindtree Limited)">
            <a:extLst>
              <a:ext uri="{FF2B5EF4-FFF2-40B4-BE49-F238E27FC236}">
                <a16:creationId xmlns:a16="http://schemas.microsoft.com/office/drawing/2014/main" id="{E921CE9A-AF9D-4476-E95C-3B2B67556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2654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D9DE4D5-0234-6D01-3CFD-12481D046273}"/>
              </a:ext>
            </a:extLst>
          </p:cNvPr>
          <p:cNvSpPr/>
          <p:nvPr/>
        </p:nvSpPr>
        <p:spPr>
          <a:xfrm>
            <a:off x="10527540" y="651968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21" name="Picture 20" descr="LTM Limited (Formerly LTIMindtree Limited)">
            <a:extLst>
              <a:ext uri="{FF2B5EF4-FFF2-40B4-BE49-F238E27FC236}">
                <a16:creationId xmlns:a16="http://schemas.microsoft.com/office/drawing/2014/main" id="{C9112862-8F57-8FDA-2A0F-A0D6DDD94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 algn="just"/>
            <a:r>
              <a:rPr lang="en-IN" sz="2400" dirty="0"/>
              <a:t>To develop a self-corrective Retrieval-Augmented Generation (RAG) system. </a:t>
            </a:r>
          </a:p>
          <a:p>
            <a:pPr lvl="0" algn="just"/>
            <a:r>
              <a:rPr lang="en-IN" sz="2400" dirty="0"/>
              <a:t>To retrieve relevant and reliable evidence for user queries. </a:t>
            </a:r>
          </a:p>
          <a:p>
            <a:pPr lvl="0" algn="just"/>
            <a:r>
              <a:rPr lang="en-IN" sz="2400" dirty="0"/>
              <a:t>To verify the retrieved evidence before generating answers. </a:t>
            </a:r>
          </a:p>
          <a:p>
            <a:pPr lvl="0" algn="just"/>
            <a:r>
              <a:rPr lang="en-IN" sz="2400" dirty="0"/>
              <a:t>To identify and correct hallucinated or unsupported responses. </a:t>
            </a:r>
          </a:p>
          <a:p>
            <a:pPr lvl="0" algn="just"/>
            <a:r>
              <a:rPr lang="en-IN" sz="2400" dirty="0"/>
              <a:t>To improve answer </a:t>
            </a:r>
            <a:r>
              <a:rPr lang="en-IN" sz="2400" dirty="0">
                <a:latin typeface="+mn-lt"/>
              </a:rPr>
              <a:t>accuracy</a:t>
            </a:r>
            <a:r>
              <a:rPr lang="en-IN" sz="2400" dirty="0"/>
              <a:t>, faithfulness, and reliability. </a:t>
            </a:r>
          </a:p>
          <a:p>
            <a:pPr marL="0" lvl="0" indent="0" algn="just">
              <a:buNone/>
            </a:pPr>
            <a:r>
              <a:rPr lang="en-IN" sz="2400" dirty="0"/>
              <a:t>User Question → Retrieval → Evidence Verification → Self-Correction (if needed) → Answer Generation → Final Answer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Self Corrective RAG With Adaptive Evidence Verification </a:t>
            </a:r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BE9D41-66E7-540B-6130-111B0339931A}"/>
              </a:ext>
            </a:extLst>
          </p:cNvPr>
          <p:cNvSpPr/>
          <p:nvPr/>
        </p:nvSpPr>
        <p:spPr>
          <a:xfrm>
            <a:off x="10527540" y="653467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97595401-41BD-F2AB-0F5F-94BE2CED4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2654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784804"/>
          </a:xfrm>
        </p:spPr>
        <p:txBody>
          <a:bodyPr/>
          <a:lstStyle/>
          <a:p>
            <a:pPr marL="457200" indent="-457200" fontAlgn="t">
              <a:buFont typeface="+mj-lt"/>
              <a:buAutoNum type="arabicPeriod"/>
            </a:pPr>
            <a:r>
              <a:rPr lang="en-IN" sz="2400" b="0" dirty="0">
                <a:highlight>
                  <a:srgbClr val="FFFFFF"/>
                </a:highlight>
                <a:latin typeface="+mn-lt"/>
              </a:rPr>
              <a:t>Data Preparation: Processed Hotpot QA dataset for knowledge retrieval.</a:t>
            </a:r>
          </a:p>
          <a:p>
            <a:pPr marL="457200" indent="-457200" fontAlgn="t">
              <a:buFont typeface="+mj-lt"/>
              <a:buAutoNum type="arabicPeriod"/>
            </a:pPr>
            <a:r>
              <a:rPr lang="en-IN" sz="2400" b="0" dirty="0">
                <a:highlight>
                  <a:srgbClr val="FFFFFF"/>
                </a:highlight>
                <a:latin typeface="+mn-lt"/>
              </a:rPr>
              <a:t>Vector Indexing: Generated embeddings and stored them in Chroma DB.</a:t>
            </a:r>
          </a:p>
          <a:p>
            <a:pPr marL="457200" indent="-457200" fontAlgn="t">
              <a:buFont typeface="+mj-lt"/>
              <a:buAutoNum type="arabicPeriod"/>
            </a:pPr>
            <a:r>
              <a:rPr lang="en-IN" sz="2400" b="0" dirty="0">
                <a:highlight>
                  <a:srgbClr val="FFFFFF"/>
                </a:highlight>
                <a:latin typeface="+mn-lt"/>
              </a:rPr>
              <a:t> Retrieval Engine: Retrieved relevant documents using semantic search.</a:t>
            </a:r>
          </a:p>
          <a:p>
            <a:pPr marL="457200" indent="-457200" fontAlgn="t">
              <a:buFont typeface="+mj-lt"/>
              <a:buAutoNum type="arabicPeriod"/>
            </a:pPr>
            <a:r>
              <a:rPr lang="en-IN" sz="2400" b="0" dirty="0">
                <a:highlight>
                  <a:srgbClr val="FFFFFF"/>
                </a:highlight>
                <a:latin typeface="+mn-lt"/>
              </a:rPr>
              <a:t> Answer Generation: Generated responses using retrieved evidence.</a:t>
            </a:r>
          </a:p>
          <a:p>
            <a:pPr marL="457200" indent="-457200" fontAlgn="t">
              <a:buFont typeface="+mj-lt"/>
              <a:buAutoNum type="arabicPeriod"/>
            </a:pPr>
            <a:r>
              <a:rPr lang="en-IN" sz="2400" b="0" dirty="0">
                <a:highlight>
                  <a:srgbClr val="FFFFFF"/>
                </a:highlight>
                <a:latin typeface="+mn-lt"/>
              </a:rPr>
              <a:t> Evidence Verification: Validated answers against supporting documents.</a:t>
            </a:r>
          </a:p>
          <a:p>
            <a:pPr marL="457200" indent="-457200" fontAlgn="t">
              <a:buFont typeface="+mj-lt"/>
              <a:buAutoNum type="arabicPeriod"/>
            </a:pPr>
            <a:r>
              <a:rPr lang="en-IN" sz="2400" b="0" dirty="0">
                <a:highlight>
                  <a:srgbClr val="FFFFFF"/>
                </a:highlight>
                <a:latin typeface="+mn-lt"/>
              </a:rPr>
              <a:t> Self-Correction: Re-retrieved evidence and refined answers when verification failed.</a:t>
            </a:r>
          </a:p>
          <a:p>
            <a:pPr marL="457200" indent="-457200" fontAlgn="t">
              <a:buFont typeface="+mj-lt"/>
              <a:buAutoNum type="arabicPeriod"/>
            </a:pPr>
            <a:r>
              <a:rPr lang="en-IN" sz="2400" b="0" dirty="0">
                <a:highlight>
                  <a:srgbClr val="FFFFFF"/>
                </a:highlight>
                <a:latin typeface="+mn-lt"/>
              </a:rPr>
              <a:t> Hallucination Detection: Identified unsupported claims and improved reliability.</a:t>
            </a:r>
          </a:p>
          <a:p>
            <a:pPr marL="457200" indent="-457200" fontAlgn="t">
              <a:buFont typeface="+mj-lt"/>
              <a:buAutoNum type="arabicPeriod"/>
            </a:pPr>
            <a:r>
              <a:rPr lang="en-IN" sz="2400" b="0" dirty="0">
                <a:highlight>
                  <a:srgbClr val="FFFFFF"/>
                </a:highlight>
                <a:latin typeface="+mn-lt"/>
              </a:rPr>
              <a:t>Evaluation: Tested on  questions with faithfulness and accuracy metrics.</a:t>
            </a:r>
          </a:p>
          <a:p>
            <a:pPr marL="0" indent="0">
              <a:buNone/>
            </a:pPr>
            <a:endParaRPr lang="en-US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Self Corrective RAG With Adaptive Evidence Verification </a:t>
            </a:r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98BA5F-4EDF-4F87-346C-BDDB26D8BCB6}"/>
              </a:ext>
            </a:extLst>
          </p:cNvPr>
          <p:cNvSpPr/>
          <p:nvPr/>
        </p:nvSpPr>
        <p:spPr>
          <a:xfrm>
            <a:off x="10527540" y="656465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981693E3-BD8A-80EE-3916-A1DF6E091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5652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874745"/>
          </a:xfrm>
        </p:spPr>
        <p:txBody>
          <a:bodyPr/>
          <a:lstStyle/>
          <a:p>
            <a:pPr marL="342900" lvl="0" indent="-342900" fontAlgn="t"/>
            <a:r>
              <a:rPr lang="en-IN" sz="2400" dirty="0"/>
              <a:t>Document Collection and Preprocessing</a:t>
            </a:r>
            <a:endParaRPr lang="en-IN" sz="2400" b="0" dirty="0"/>
          </a:p>
          <a:p>
            <a:pPr marL="742950" lvl="1" indent="-285750" fontAlgn="t"/>
            <a:r>
              <a:rPr lang="en-IN" dirty="0"/>
              <a:t>Collect source documents and clean the text for indexing.</a:t>
            </a:r>
          </a:p>
          <a:p>
            <a:pPr marL="342900" lvl="0" indent="-342900" fontAlgn="t"/>
            <a:r>
              <a:rPr lang="en-IN" sz="2400" dirty="0"/>
              <a:t>Knowledge Base Creation</a:t>
            </a:r>
            <a:endParaRPr lang="en-IN" sz="2400" b="0" dirty="0"/>
          </a:p>
          <a:p>
            <a:pPr marL="742950" lvl="1" indent="-285750" fontAlgn="t"/>
            <a:r>
              <a:rPr lang="en-IN" dirty="0"/>
              <a:t>Generate embeddings and store documents in Chroma DB for efficient retrieval.</a:t>
            </a:r>
          </a:p>
          <a:p>
            <a:pPr marL="342900" lvl="0" indent="-342900" fontAlgn="t"/>
            <a:r>
              <a:rPr lang="en-IN" sz="2400" dirty="0"/>
              <a:t>Question Retrieval and Answer Generation</a:t>
            </a:r>
            <a:endParaRPr lang="en-IN" sz="2400" b="0" dirty="0"/>
          </a:p>
          <a:p>
            <a:pPr marL="742950" lvl="1" indent="-285750" fontAlgn="t"/>
            <a:r>
              <a:rPr lang="en-IN" dirty="0"/>
              <a:t>Retrieve relevant document chunks and generate answers using an LLM.</a:t>
            </a:r>
          </a:p>
          <a:p>
            <a:pPr marL="342900" lvl="0" indent="-342900" fontAlgn="t"/>
            <a:r>
              <a:rPr lang="en-IN" sz="2400" dirty="0"/>
              <a:t>Adaptive Evidence Verification</a:t>
            </a:r>
            <a:endParaRPr lang="en-IN" sz="2400" b="0" dirty="0"/>
          </a:p>
          <a:p>
            <a:pPr marL="742950" lvl="1" indent="-285750" fontAlgn="t"/>
            <a:r>
              <a:rPr lang="en-IN" dirty="0"/>
              <a:t>Validate generated answers against retrieved evidence and assign a verification score.</a:t>
            </a:r>
          </a:p>
          <a:p>
            <a:pPr marL="342900" lvl="0" indent="-342900" fontAlgn="t"/>
            <a:r>
              <a:rPr lang="en-IN" sz="2400" dirty="0"/>
              <a:t>Self-Correction and Evaluation</a:t>
            </a:r>
            <a:endParaRPr lang="en-IN" sz="2400" b="0" dirty="0"/>
          </a:p>
          <a:p>
            <a:pPr marL="742950" lvl="1" indent="-285750" fontAlgn="t"/>
            <a:r>
              <a:rPr lang="en-IN" dirty="0"/>
              <a:t>Re-retrieve information, regenerate answers when verification fails, and evaluate performance using test questions.</a:t>
            </a:r>
          </a:p>
          <a:p>
            <a:pPr marL="0" indent="0" fontAlgn="t">
              <a:buNone/>
            </a:pPr>
            <a:endParaRPr lang="en-IN" sz="2400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Self Corrective RAG With Adaptive Evidence Verification </a:t>
            </a:r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89DF4E-407B-244B-0AE4-EA28139DB2B6}"/>
              </a:ext>
            </a:extLst>
          </p:cNvPr>
          <p:cNvSpPr/>
          <p:nvPr/>
        </p:nvSpPr>
        <p:spPr>
          <a:xfrm>
            <a:off x="10527540" y="651968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C2614C4A-B290-4D5E-039E-DF4DB7672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lvl="0" indent="-342900" fontAlgn="t"/>
            <a:r>
              <a:rPr lang="en-IN" dirty="0"/>
              <a:t>Source Document Preparation</a:t>
            </a:r>
            <a:endParaRPr lang="en-IN" b="0" dirty="0"/>
          </a:p>
          <a:p>
            <a:pPr marL="742950" lvl="1" indent="-285750" fontAlgn="t"/>
            <a:r>
              <a:rPr lang="en-IN" dirty="0"/>
              <a:t>Collected and organized knowledge source documents for the RAG system.</a:t>
            </a:r>
          </a:p>
          <a:p>
            <a:pPr marL="342900" lvl="0" indent="-342900" fontAlgn="t"/>
            <a:r>
              <a:rPr lang="en-IN" dirty="0"/>
              <a:t>Text Chunking</a:t>
            </a:r>
            <a:endParaRPr lang="en-IN" b="0" dirty="0"/>
          </a:p>
          <a:p>
            <a:pPr marL="742950" lvl="1" indent="-285750" fontAlgn="t"/>
            <a:r>
              <a:rPr lang="en-IN" dirty="0"/>
              <a:t>Split large documents into smaller chunks for efficient retrieval.</a:t>
            </a:r>
          </a:p>
          <a:p>
            <a:pPr marL="342900" lvl="0" indent="-342900" fontAlgn="t"/>
            <a:r>
              <a:rPr lang="en-IN" dirty="0"/>
              <a:t>Vector Embedding Creation</a:t>
            </a:r>
            <a:endParaRPr lang="en-IN" b="0" dirty="0"/>
          </a:p>
          <a:p>
            <a:pPr marL="742950" lvl="1" indent="-285750" fontAlgn="t"/>
            <a:r>
              <a:rPr lang="en-IN" dirty="0"/>
              <a:t>Converted text chunks into embeddings for semantic search.</a:t>
            </a:r>
          </a:p>
          <a:p>
            <a:pPr marL="342900" lvl="0" indent="-342900" fontAlgn="t"/>
            <a:r>
              <a:rPr lang="en-IN" dirty="0"/>
              <a:t>Chroma DB Index Generation</a:t>
            </a:r>
            <a:endParaRPr lang="en-IN" b="0" dirty="0"/>
          </a:p>
          <a:p>
            <a:pPr marL="742950" lvl="1" indent="-285750" fontAlgn="t"/>
            <a:r>
              <a:rPr lang="en-IN" dirty="0"/>
              <a:t>Stored document embeddings in Chroma DB for fast similarity retrieval.</a:t>
            </a:r>
          </a:p>
          <a:p>
            <a:pPr marL="342900" lvl="0" indent="-342900" fontAlgn="t"/>
            <a:r>
              <a:rPr lang="en-IN" dirty="0"/>
              <a:t>Knowledge Base Analysis</a:t>
            </a:r>
            <a:endParaRPr lang="en-IN" b="0" dirty="0"/>
          </a:p>
          <a:p>
            <a:pPr marL="742950" lvl="1" indent="-285750" fontAlgn="t"/>
            <a:r>
              <a:rPr lang="en-IN" dirty="0"/>
              <a:t>Verified document quality, chunk distribution, and retrieval readiness before indexing.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Self Corrective RAG With Adaptive Evidence Verification </a:t>
            </a:r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AB5A47-DC3F-AFFD-CFBB-BACEDAB14E48}"/>
              </a:ext>
            </a:extLst>
          </p:cNvPr>
          <p:cNvSpPr/>
          <p:nvPr/>
        </p:nvSpPr>
        <p:spPr>
          <a:xfrm>
            <a:off x="10527540" y="651968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49DC513A-DF8F-E10C-5600-F1F579D08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5084236"/>
          </a:xfrm>
        </p:spPr>
        <p:txBody>
          <a:bodyPr/>
          <a:lstStyle/>
          <a:p>
            <a:pPr fontAlgn="t">
              <a:buNone/>
            </a:pPr>
            <a:r>
              <a:rPr lang="en-IN" sz="2150" dirty="0"/>
              <a:t>Approach</a:t>
            </a:r>
          </a:p>
          <a:p>
            <a:pPr fontAlgn="t">
              <a:buNone/>
            </a:pPr>
            <a:r>
              <a:rPr lang="en-IN" sz="2150" b="0" dirty="0">
                <a:solidFill>
                  <a:schemeClr val="tx1"/>
                </a:solidFill>
              </a:rPr>
              <a:t>•</a:t>
            </a:r>
            <a:r>
              <a:rPr lang="en-IN" sz="2150" b="0" dirty="0"/>
              <a:t> </a:t>
            </a:r>
            <a:r>
              <a:rPr lang="en-IN" sz="2150" b="0" dirty="0">
                <a:solidFill>
                  <a:schemeClr val="tx1"/>
                </a:solidFill>
              </a:rPr>
              <a:t>Developed a Self-Corrective RAG framework that generates answers from retrieved evidence and reduces hallucinations through verification and correction.</a:t>
            </a:r>
          </a:p>
          <a:p>
            <a:pPr fontAlgn="t">
              <a:buNone/>
            </a:pPr>
            <a:r>
              <a:rPr lang="en-IN" sz="2150" dirty="0"/>
              <a:t>Algorithms</a:t>
            </a:r>
          </a:p>
          <a:p>
            <a:pPr fontAlgn="t">
              <a:buNone/>
            </a:pPr>
            <a:r>
              <a:rPr lang="en-IN" sz="2150" b="0" dirty="0">
                <a:solidFill>
                  <a:schemeClr val="tx1"/>
                </a:solidFill>
              </a:rPr>
              <a:t>• Semantic Retrieval to fetch relevant documents from Chroma DB using vector embeddings.</a:t>
            </a:r>
          </a:p>
          <a:p>
            <a:pPr fontAlgn="t">
              <a:buNone/>
            </a:pPr>
            <a:r>
              <a:rPr lang="en-IN" sz="2150" b="0" dirty="0">
                <a:solidFill>
                  <a:schemeClr val="tx1"/>
                </a:solidFill>
              </a:rPr>
              <a:t>• Retrieval-Augmented Generation (RAG) to generate answers using retrieved context.</a:t>
            </a:r>
          </a:p>
          <a:p>
            <a:pPr fontAlgn="t">
              <a:buNone/>
            </a:pPr>
            <a:r>
              <a:rPr lang="en-IN" sz="2150" b="0" dirty="0">
                <a:solidFill>
                  <a:schemeClr val="tx1"/>
                </a:solidFill>
              </a:rPr>
              <a:t>• Adaptive Evidence Verification to validate generated answers against supporting evidence.</a:t>
            </a:r>
          </a:p>
          <a:p>
            <a:pPr fontAlgn="t">
              <a:buNone/>
            </a:pPr>
            <a:r>
              <a:rPr lang="en-IN" sz="2150" b="0" dirty="0">
                <a:solidFill>
                  <a:schemeClr val="tx1"/>
                </a:solidFill>
              </a:rPr>
              <a:t>• Hallucination Detection &amp; Self-Correction Loop to identify unsupported claims and refine responses through re-retrieval.</a:t>
            </a:r>
          </a:p>
          <a:p>
            <a:pPr fontAlgn="t">
              <a:buNone/>
            </a:pPr>
            <a:r>
              <a:rPr lang="en-IN" sz="2150" dirty="0"/>
              <a:t>Tools</a:t>
            </a:r>
          </a:p>
          <a:p>
            <a:pPr fontAlgn="t">
              <a:buNone/>
            </a:pPr>
            <a:r>
              <a:rPr lang="en-IN" sz="2150" b="0" dirty="0">
                <a:solidFill>
                  <a:schemeClr val="tx1"/>
                </a:solidFill>
              </a:rPr>
              <a:t>• Python, Stream lit, Fast API, Chroma DB, Lang Chain, Sentence Transformers, Hotpot QA, GitHub, Railway, </a:t>
            </a:r>
            <a:r>
              <a:rPr lang="en-IN" sz="2150" b="0" dirty="0" err="1">
                <a:solidFill>
                  <a:schemeClr val="tx1"/>
                </a:solidFill>
              </a:rPr>
              <a:t>Streamlit</a:t>
            </a:r>
            <a:r>
              <a:rPr lang="en-IN" sz="2150" b="0" dirty="0">
                <a:solidFill>
                  <a:schemeClr val="tx1"/>
                </a:solidFill>
              </a:rPr>
              <a:t> Cloud.</a:t>
            </a:r>
          </a:p>
          <a:p>
            <a:pPr fontAlgn="t">
              <a:buNone/>
            </a:pPr>
            <a:endParaRPr lang="en-IN" sz="200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Self Corrective RAG With Adaptive Evidence Verification </a:t>
            </a:r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FFDF9E-CD31-B3CB-F6BF-CE5A93CA10F5}"/>
              </a:ext>
            </a:extLst>
          </p:cNvPr>
          <p:cNvSpPr/>
          <p:nvPr/>
        </p:nvSpPr>
        <p:spPr>
          <a:xfrm>
            <a:off x="10527540" y="651968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6AE6B9F4-A10F-F491-A726-C588CC57F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fontAlgn="t">
              <a:buNone/>
            </a:pPr>
            <a:r>
              <a:rPr lang="en-IN" sz="2400" dirty="0"/>
              <a:t> 1: Requirement Analysis</a:t>
            </a:r>
            <a:endParaRPr lang="en-IN" sz="2400" b="0" dirty="0"/>
          </a:p>
          <a:p>
            <a:pPr marL="342900" lvl="0" indent="-342900" fontAlgn="t"/>
            <a:r>
              <a:rPr lang="en-IN" sz="2400" b="0" dirty="0">
                <a:solidFill>
                  <a:schemeClr val="tx1"/>
                </a:solidFill>
              </a:rPr>
              <a:t>Studied RAG systems and hallucination issues in LLMs.</a:t>
            </a:r>
          </a:p>
          <a:p>
            <a:pPr fontAlgn="t">
              <a:buNone/>
            </a:pPr>
            <a:r>
              <a:rPr lang="en-IN" sz="2400" b="0" dirty="0"/>
              <a:t> </a:t>
            </a:r>
            <a:r>
              <a:rPr lang="en-IN" sz="2400" dirty="0"/>
              <a:t>2: Knowledge Base Setup</a:t>
            </a:r>
            <a:endParaRPr lang="en-IN" sz="2400" b="0" dirty="0"/>
          </a:p>
          <a:p>
            <a:pPr marL="342900" lvl="0" indent="-342900" fontAlgn="t"/>
            <a:r>
              <a:rPr lang="en-IN" sz="2400" b="0" dirty="0">
                <a:solidFill>
                  <a:schemeClr val="tx1"/>
                </a:solidFill>
              </a:rPr>
              <a:t>Prepared documents and created the Chroma DB vector database.</a:t>
            </a:r>
          </a:p>
          <a:p>
            <a:pPr fontAlgn="t">
              <a:buNone/>
            </a:pPr>
            <a:r>
              <a:rPr lang="en-IN" sz="2400" b="0" dirty="0"/>
              <a:t> </a:t>
            </a:r>
            <a:r>
              <a:rPr lang="en-IN" sz="2400" dirty="0"/>
              <a:t> 3: Self-Corrective RAG Development</a:t>
            </a:r>
            <a:endParaRPr lang="en-IN" sz="2400" b="0" dirty="0"/>
          </a:p>
          <a:p>
            <a:pPr marL="342900" lvl="0" indent="-342900" fontAlgn="t"/>
            <a:r>
              <a:rPr lang="en-IN" sz="2400" b="0" dirty="0">
                <a:solidFill>
                  <a:schemeClr val="tx1"/>
                </a:solidFill>
              </a:rPr>
              <a:t>Implemented retrieval, answer generation, verification, and correction modules.</a:t>
            </a:r>
          </a:p>
          <a:p>
            <a:pPr fontAlgn="t">
              <a:buNone/>
            </a:pPr>
            <a:r>
              <a:rPr lang="en-IN" sz="2400" b="0" dirty="0"/>
              <a:t> </a:t>
            </a:r>
            <a:r>
              <a:rPr lang="en-IN" sz="2400" dirty="0"/>
              <a:t>4: System Integration &amp; Deployment</a:t>
            </a:r>
            <a:endParaRPr lang="en-IN" sz="2400" b="0" dirty="0"/>
          </a:p>
          <a:p>
            <a:pPr marL="342900" lvl="0" indent="-342900" fontAlgn="t"/>
            <a:r>
              <a:rPr lang="en-IN" sz="2400" b="0" dirty="0">
                <a:solidFill>
                  <a:schemeClr val="tx1"/>
                </a:solidFill>
              </a:rPr>
              <a:t>Integrated all modules and deployed using Stream lit and Railway.</a:t>
            </a:r>
          </a:p>
          <a:p>
            <a:pPr fontAlgn="t">
              <a:buNone/>
            </a:pPr>
            <a:r>
              <a:rPr lang="en-IN" sz="2400" b="0" dirty="0"/>
              <a:t> </a:t>
            </a:r>
            <a:r>
              <a:rPr lang="en-IN" sz="2400" dirty="0"/>
              <a:t> 5: Testing &amp; Validation</a:t>
            </a:r>
            <a:endParaRPr lang="en-IN" sz="2400" b="0" dirty="0"/>
          </a:p>
          <a:p>
            <a:pPr marL="342900" lvl="0" indent="-342900" fontAlgn="t"/>
            <a:r>
              <a:rPr lang="en-IN" sz="2400" b="0" dirty="0">
                <a:solidFill>
                  <a:schemeClr val="tx1"/>
                </a:solidFill>
              </a:rPr>
              <a:t>Tested system performance, verified responses, and analysed evaluation metrics.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milestones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progress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Self Corrective RAG With Adaptive Evidence Verification </a:t>
            </a:r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78DCD8-B8C2-72E3-A4A1-80AE1377E2A3}"/>
              </a:ext>
            </a:extLst>
          </p:cNvPr>
          <p:cNvSpPr/>
          <p:nvPr/>
        </p:nvSpPr>
        <p:spPr>
          <a:xfrm>
            <a:off x="10527540" y="651968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5E59CC27-32BF-17D0-3A58-B3A757A24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fontAlgn="t">
              <a:buNone/>
            </a:pPr>
            <a:r>
              <a:rPr lang="en-IN" sz="1800" b="0" dirty="0">
                <a:solidFill>
                  <a:schemeClr val="tx1"/>
                </a:solidFill>
              </a:rPr>
              <a:t>User Query</a:t>
            </a:r>
          </a:p>
          <a:p>
            <a:pPr fontAlgn="t">
              <a:buNone/>
            </a:pPr>
            <a:r>
              <a:rPr lang="en-IN" sz="1800" b="0" dirty="0">
                <a:solidFill>
                  <a:schemeClr val="tx1"/>
                </a:solidFill>
              </a:rPr>
              <a:t>↓</a:t>
            </a:r>
          </a:p>
          <a:p>
            <a:pPr fontAlgn="t">
              <a:buNone/>
            </a:pPr>
            <a:r>
              <a:rPr lang="en-IN" sz="1800" b="0" dirty="0">
                <a:solidFill>
                  <a:schemeClr val="tx1"/>
                </a:solidFill>
              </a:rPr>
              <a:t>Document Retrieval</a:t>
            </a:r>
          </a:p>
          <a:p>
            <a:pPr fontAlgn="t">
              <a:buNone/>
            </a:pPr>
            <a:r>
              <a:rPr lang="en-IN" sz="1800" b="0" dirty="0">
                <a:solidFill>
                  <a:schemeClr val="tx1"/>
                </a:solidFill>
              </a:rPr>
              <a:t>↓</a:t>
            </a:r>
          </a:p>
          <a:p>
            <a:pPr fontAlgn="t">
              <a:buNone/>
            </a:pPr>
            <a:r>
              <a:rPr lang="en-IN" sz="1800" b="0" dirty="0">
                <a:solidFill>
                  <a:schemeClr val="tx1"/>
                </a:solidFill>
              </a:rPr>
              <a:t>Answer Generation</a:t>
            </a:r>
          </a:p>
          <a:p>
            <a:pPr fontAlgn="t">
              <a:buNone/>
            </a:pPr>
            <a:r>
              <a:rPr lang="en-IN" sz="1800" b="0" dirty="0">
                <a:solidFill>
                  <a:schemeClr val="tx1"/>
                </a:solidFill>
              </a:rPr>
              <a:t>↓</a:t>
            </a:r>
          </a:p>
          <a:p>
            <a:pPr fontAlgn="t">
              <a:buNone/>
            </a:pPr>
            <a:r>
              <a:rPr lang="en-IN" sz="1800" b="0" dirty="0">
                <a:solidFill>
                  <a:schemeClr val="tx1"/>
                </a:solidFill>
              </a:rPr>
              <a:t>Evidence Verification</a:t>
            </a:r>
          </a:p>
          <a:p>
            <a:pPr fontAlgn="t">
              <a:buNone/>
            </a:pPr>
            <a:r>
              <a:rPr lang="en-IN" sz="1800" b="0" dirty="0">
                <a:solidFill>
                  <a:schemeClr val="tx1"/>
                </a:solidFill>
              </a:rPr>
              <a:t>↓</a:t>
            </a:r>
          </a:p>
          <a:p>
            <a:pPr fontAlgn="t">
              <a:buNone/>
            </a:pPr>
            <a:r>
              <a:rPr lang="en-IN" sz="1800" b="0" dirty="0">
                <a:solidFill>
                  <a:schemeClr val="tx1"/>
                </a:solidFill>
              </a:rPr>
              <a:t>Hallucination Detection</a:t>
            </a:r>
          </a:p>
          <a:p>
            <a:pPr fontAlgn="t">
              <a:buNone/>
            </a:pPr>
            <a:r>
              <a:rPr lang="en-IN" sz="1800" b="0" dirty="0">
                <a:solidFill>
                  <a:schemeClr val="tx1"/>
                </a:solidFill>
              </a:rPr>
              <a:t>↓</a:t>
            </a:r>
          </a:p>
          <a:p>
            <a:pPr fontAlgn="t">
              <a:buNone/>
            </a:pPr>
            <a:r>
              <a:rPr lang="en-IN" sz="1800" b="0" dirty="0">
                <a:solidFill>
                  <a:schemeClr val="tx1"/>
                </a:solidFill>
              </a:rPr>
              <a:t>Self-Correction Loop</a:t>
            </a:r>
          </a:p>
          <a:p>
            <a:pPr fontAlgn="t">
              <a:buNone/>
            </a:pPr>
            <a:r>
              <a:rPr lang="en-IN" sz="1800" b="0" dirty="0">
                <a:solidFill>
                  <a:schemeClr val="tx1"/>
                </a:solidFill>
              </a:rPr>
              <a:t>↓</a:t>
            </a:r>
          </a:p>
          <a:p>
            <a:pPr fontAlgn="t">
              <a:buNone/>
            </a:pPr>
            <a:r>
              <a:rPr lang="en-IN" sz="1800" b="0" dirty="0">
                <a:solidFill>
                  <a:schemeClr val="tx1"/>
                </a:solidFill>
              </a:rPr>
              <a:t>Final Verified Answer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8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Self Corrective RAG With Adaptive Evidence Verification </a:t>
            </a:r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AFF682-6002-6EE9-27F5-9E5997252B0F}"/>
              </a:ext>
            </a:extLst>
          </p:cNvPr>
          <p:cNvSpPr/>
          <p:nvPr/>
        </p:nvSpPr>
        <p:spPr>
          <a:xfrm>
            <a:off x="10527540" y="651968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B2B1309A-B1A8-9E5D-5F83-E2A1F33A2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Content Placeholder 24">
            <a:extLst>
              <a:ext uri="{FF2B5EF4-FFF2-40B4-BE49-F238E27FC236}">
                <a16:creationId xmlns:a16="http://schemas.microsoft.com/office/drawing/2014/main" id="{BCF0B43B-5C83-9C64-618A-DE897EDECE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192164" y="1304270"/>
            <a:ext cx="5806276" cy="506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 II</a:t>
            </a:r>
          </a:p>
          <a:p>
            <a:pPr algn="ctr">
              <a:defRPr/>
            </a:pPr>
            <a:r>
              <a:rPr lang="en-IN" sz="3600" b="1" dirty="0">
                <a:solidFill>
                  <a:srgbClr val="FFFFFF"/>
                </a:solidFill>
              </a:rPr>
              <a:t>Hierarchical Multi-Agent AI for Autonomous Task Decomposition, Planning, and Collaborative Execution</a:t>
            </a:r>
          </a:p>
          <a:p>
            <a:pPr lvl="0" algn="ctr">
              <a:defRPr/>
            </a:pPr>
            <a:endParaRPr lang="en-US" sz="3600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SOWMIYA C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T9954 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CRESCENT COLLEGE</a:t>
            </a:r>
          </a:p>
          <a:p>
            <a:pPr algn="ctr">
              <a:defRPr/>
            </a:pPr>
            <a:endParaRPr lang="en-US" sz="2400" b="1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75E6C6-E2DF-584E-BF71-6FA463AA94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4443" y="5108304"/>
            <a:ext cx="4201139" cy="210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323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 algn="just"/>
            <a:r>
              <a:rPr lang="en-IN" dirty="0">
                <a:latin typeface="+mn-lt"/>
              </a:rPr>
              <a:t>Multi-Agent AI uses multiple intelligent agents to solve complex tasks collaboratively. </a:t>
            </a:r>
          </a:p>
          <a:p>
            <a:pPr lvl="0" algn="just"/>
            <a:r>
              <a:rPr lang="en-IN" dirty="0">
                <a:latin typeface="+mn-lt"/>
              </a:rPr>
              <a:t>The system divides a complex task into smaller subtasks using hierarchical task decomposition. </a:t>
            </a:r>
          </a:p>
          <a:p>
            <a:pPr lvl="0" algn="just"/>
            <a:r>
              <a:rPr lang="en-IN" dirty="0">
                <a:latin typeface="+mn-lt"/>
              </a:rPr>
              <a:t>Different agents perform planning, reasoning, and execution according to their assigned roles. </a:t>
            </a:r>
          </a:p>
          <a:p>
            <a:pPr lvl="0" algn="just"/>
            <a:r>
              <a:rPr lang="en-IN" dirty="0">
                <a:latin typeface="+mn-lt"/>
              </a:rPr>
              <a:t>Agents communicate and share results to improve coordination and task completion. </a:t>
            </a:r>
          </a:p>
          <a:p>
            <a:pPr lvl="0" algn="just"/>
            <a:r>
              <a:rPr lang="en-IN" dirty="0">
                <a:latin typeface="+mn-lt"/>
              </a:rPr>
              <a:t>The proposed system aims to provide autonomous, efficient, and reliable task execution.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2758191" y="57036"/>
            <a:ext cx="9433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/>
              <a:t>Multi-Agent AI for Autonomous Task Decomposition, Planning, and Collaborative Execution</a:t>
            </a:r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FE5BAA-6B94-9050-EB30-BBC1CD859122}"/>
              </a:ext>
            </a:extLst>
          </p:cNvPr>
          <p:cNvSpPr/>
          <p:nvPr/>
        </p:nvSpPr>
        <p:spPr>
          <a:xfrm>
            <a:off x="10527540" y="651968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03E3F648-4F9A-8068-8F87-A61DDDCC5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3840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 algn="just"/>
            <a:r>
              <a:rPr lang="en-IN" dirty="0">
                <a:latin typeface="+mn-lt"/>
              </a:rPr>
              <a:t>To develop a hierarchical multi-agent AI system for autonomous task solving. </a:t>
            </a:r>
          </a:p>
          <a:p>
            <a:pPr lvl="0" algn="just"/>
            <a:r>
              <a:rPr lang="en-IN" dirty="0">
                <a:latin typeface="+mn-lt"/>
              </a:rPr>
              <a:t>To decompose complex tasks into smaller and manageable subtasks. </a:t>
            </a:r>
          </a:p>
          <a:p>
            <a:pPr lvl="0" algn="just"/>
            <a:r>
              <a:rPr lang="en-IN" dirty="0">
                <a:latin typeface="+mn-lt"/>
              </a:rPr>
              <a:t>To assign subtasks to specialized agents based on their roles and capabilities. </a:t>
            </a:r>
          </a:p>
          <a:p>
            <a:pPr lvl="0" algn="just"/>
            <a:r>
              <a:rPr lang="en-IN" dirty="0">
                <a:latin typeface="+mn-lt"/>
              </a:rPr>
              <a:t>To enable agents to communicate, coordinate, and share results effectively. </a:t>
            </a:r>
          </a:p>
          <a:p>
            <a:pPr lvl="0" algn="just"/>
            <a:r>
              <a:rPr lang="en-IN" dirty="0">
                <a:latin typeface="+mn-lt"/>
              </a:rPr>
              <a:t>To achieve efficient, autonomous, and reliable task planning and execution.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2653259" y="57036"/>
            <a:ext cx="95387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/>
              <a:t>Multi-Agent AI for Autonomous Task Decomposition, Planning, and Collaborative Execution</a:t>
            </a:r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B88D57-35FB-158A-43E7-63A8D295EA64}"/>
              </a:ext>
            </a:extLst>
          </p:cNvPr>
          <p:cNvSpPr/>
          <p:nvPr/>
        </p:nvSpPr>
        <p:spPr>
          <a:xfrm>
            <a:off x="10527540" y="651968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D831ACB3-9C56-3A72-ADB2-A3FF20EA8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4102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919712"/>
          </a:xfrm>
        </p:spPr>
        <p:txBody>
          <a:bodyPr/>
          <a:lstStyle/>
          <a:p>
            <a:pPr fontAlgn="t">
              <a:buNone/>
            </a:pPr>
            <a:r>
              <a:rPr lang="en-IN" dirty="0">
                <a:latin typeface="+mn-lt"/>
              </a:rPr>
              <a:t>Module 1 - Manager Agent</a:t>
            </a:r>
            <a:br>
              <a:rPr lang="en-IN" b="0" dirty="0">
                <a:latin typeface="+mn-lt"/>
              </a:rPr>
            </a:br>
            <a:r>
              <a:rPr lang="en-IN" b="0" dirty="0">
                <a:solidFill>
                  <a:schemeClr val="tx1"/>
                </a:solidFill>
                <a:latin typeface="+mn-lt"/>
              </a:rPr>
              <a:t>Decomposes the user goal into high-level tasks</a:t>
            </a:r>
            <a:r>
              <a:rPr lang="en-IN" b="0" dirty="0">
                <a:latin typeface="+mn-lt"/>
              </a:rPr>
              <a:t>.</a:t>
            </a:r>
          </a:p>
          <a:p>
            <a:pPr fontAlgn="t">
              <a:buNone/>
            </a:pPr>
            <a:r>
              <a:rPr lang="en-IN" dirty="0">
                <a:latin typeface="+mn-lt"/>
              </a:rPr>
              <a:t>Module 2 - Supervisor Agent</a:t>
            </a:r>
            <a:br>
              <a:rPr lang="en-IN" b="0" dirty="0">
                <a:latin typeface="+mn-lt"/>
              </a:rPr>
            </a:br>
            <a:r>
              <a:rPr lang="en-IN" b="0" dirty="0">
                <a:solidFill>
                  <a:schemeClr val="tx1"/>
                </a:solidFill>
                <a:latin typeface="+mn-lt"/>
              </a:rPr>
              <a:t>Monitors workflow and divides tasks into subtasks.</a:t>
            </a:r>
          </a:p>
          <a:p>
            <a:pPr fontAlgn="t">
              <a:buNone/>
            </a:pPr>
            <a:r>
              <a:rPr lang="en-IN" dirty="0">
                <a:latin typeface="+mn-lt"/>
              </a:rPr>
              <a:t>Module 3 - Worker Agent</a:t>
            </a:r>
            <a:br>
              <a:rPr lang="en-IN" b="0" dirty="0">
                <a:latin typeface="+mn-lt"/>
              </a:rPr>
            </a:br>
            <a:r>
              <a:rPr lang="en-IN" b="0" dirty="0">
                <a:solidFill>
                  <a:schemeClr val="tx1"/>
                </a:solidFill>
                <a:latin typeface="+mn-lt"/>
              </a:rPr>
              <a:t>Executes assigned tasks and generates outputs.</a:t>
            </a:r>
          </a:p>
          <a:p>
            <a:pPr fontAlgn="t">
              <a:buNone/>
            </a:pPr>
            <a:r>
              <a:rPr lang="en-IN" dirty="0">
                <a:latin typeface="+mn-lt"/>
              </a:rPr>
              <a:t>Module 4 - Shared Memory Module</a:t>
            </a:r>
            <a:br>
              <a:rPr lang="en-IN" b="0" dirty="0">
                <a:latin typeface="+mn-lt"/>
              </a:rPr>
            </a:br>
            <a:r>
              <a:rPr lang="en-IN" b="0" dirty="0">
                <a:solidFill>
                  <a:schemeClr val="tx1"/>
                </a:solidFill>
                <a:latin typeface="+mn-lt"/>
              </a:rPr>
              <a:t>Stores and shares information among agents.</a:t>
            </a:r>
          </a:p>
          <a:p>
            <a:pPr fontAlgn="t">
              <a:buNone/>
            </a:pPr>
            <a:r>
              <a:rPr lang="en-IN" dirty="0">
                <a:latin typeface="+mn-lt"/>
              </a:rPr>
              <a:t>Module 5 - Result Aggregation Module</a:t>
            </a:r>
            <a:br>
              <a:rPr lang="en-IN" b="0" dirty="0">
                <a:latin typeface="+mn-lt"/>
              </a:rPr>
            </a:br>
            <a:r>
              <a:rPr lang="en-IN" b="0" dirty="0">
                <a:solidFill>
                  <a:schemeClr val="tx1"/>
                </a:solidFill>
                <a:latin typeface="+mn-lt"/>
              </a:rPr>
              <a:t>Combines agent outputs and produces the final result.</a:t>
            </a:r>
          </a:p>
          <a:p>
            <a:pPr lvl="1"/>
            <a:endParaRPr lang="en-US" sz="2800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162925" y="57036"/>
            <a:ext cx="90290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/>
              <a:t>Multi-Agent AI for Autonomous Task Decomposition, Planning, and Collaborative Execution</a:t>
            </a:r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6CA573-53C0-4A4B-2419-22B603B2B17F}"/>
              </a:ext>
            </a:extLst>
          </p:cNvPr>
          <p:cNvSpPr/>
          <p:nvPr/>
        </p:nvSpPr>
        <p:spPr>
          <a:xfrm>
            <a:off x="10527540" y="651968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6B8B873E-A416-5BF1-01A4-885BED725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811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fontAlgn="t">
              <a:buNone/>
            </a:pPr>
            <a:r>
              <a:rPr lang="en-IN" sz="2600" dirty="0">
                <a:latin typeface="+mn-lt"/>
              </a:rPr>
              <a:t>Step 1 - Goal Input</a:t>
            </a:r>
            <a:endParaRPr lang="en-IN" sz="2600" b="0" dirty="0">
              <a:latin typeface="+mn-lt"/>
            </a:endParaRPr>
          </a:p>
          <a:p>
            <a:pPr marL="342900" lvl="0" indent="-342900" fontAlgn="t"/>
            <a:r>
              <a:rPr lang="en-IN" sz="2600" b="0" dirty="0">
                <a:solidFill>
                  <a:schemeClr val="tx1"/>
                </a:solidFill>
                <a:latin typeface="+mn-lt"/>
              </a:rPr>
              <a:t>User provides a high-level goal to the system.</a:t>
            </a:r>
          </a:p>
          <a:p>
            <a:pPr fontAlgn="t">
              <a:buNone/>
            </a:pPr>
            <a:r>
              <a:rPr lang="en-IN" sz="2600" dirty="0">
                <a:latin typeface="+mn-lt"/>
              </a:rPr>
              <a:t>Step 2 - Task Decomposition</a:t>
            </a:r>
            <a:endParaRPr lang="en-IN" sz="2600" b="0" dirty="0">
              <a:latin typeface="+mn-lt"/>
            </a:endParaRPr>
          </a:p>
          <a:p>
            <a:pPr marL="342900" lvl="0" indent="-342900" fontAlgn="t"/>
            <a:r>
              <a:rPr lang="en-IN" sz="2600" b="0" dirty="0">
                <a:solidFill>
                  <a:schemeClr val="tx1"/>
                </a:solidFill>
                <a:latin typeface="+mn-lt"/>
              </a:rPr>
              <a:t>Manager Agent analyses the goal and creates major tasks.</a:t>
            </a:r>
          </a:p>
          <a:p>
            <a:pPr fontAlgn="t">
              <a:buNone/>
            </a:pPr>
            <a:r>
              <a:rPr lang="en-IN" sz="2600" dirty="0">
                <a:latin typeface="+mn-lt"/>
              </a:rPr>
              <a:t>Step 3 - Subtask Generation</a:t>
            </a:r>
            <a:endParaRPr lang="en-IN" sz="2600" b="0" dirty="0">
              <a:latin typeface="+mn-lt"/>
            </a:endParaRPr>
          </a:p>
          <a:p>
            <a:pPr marL="342900" lvl="0" indent="-342900" fontAlgn="t"/>
            <a:r>
              <a:rPr lang="en-IN" sz="2600" b="0" dirty="0">
                <a:solidFill>
                  <a:schemeClr val="tx1"/>
                </a:solidFill>
                <a:latin typeface="+mn-lt"/>
              </a:rPr>
              <a:t>Supervisor Agent breaks major tasks into smaller actionable subtasks.</a:t>
            </a:r>
          </a:p>
          <a:p>
            <a:pPr fontAlgn="t">
              <a:buNone/>
            </a:pPr>
            <a:r>
              <a:rPr lang="en-IN" sz="2600" dirty="0">
                <a:latin typeface="+mn-lt"/>
              </a:rPr>
              <a:t>Step 4 - Task Execution</a:t>
            </a:r>
            <a:endParaRPr lang="en-IN" sz="2600" b="0" dirty="0">
              <a:latin typeface="+mn-lt"/>
            </a:endParaRPr>
          </a:p>
          <a:p>
            <a:pPr marL="342900" lvl="0" indent="-342900" fontAlgn="t"/>
            <a:r>
              <a:rPr lang="en-IN" sz="2600" b="0" dirty="0">
                <a:solidFill>
                  <a:schemeClr val="tx1"/>
                </a:solidFill>
                <a:latin typeface="+mn-lt"/>
              </a:rPr>
              <a:t>Worker Agents execute the assigned subtasks collaboratively.</a:t>
            </a:r>
          </a:p>
          <a:p>
            <a:pPr fontAlgn="t">
              <a:buNone/>
            </a:pPr>
            <a:r>
              <a:rPr lang="en-IN" sz="2600" dirty="0">
                <a:latin typeface="+mn-lt"/>
              </a:rPr>
              <a:t>Step 5 - Result Generation</a:t>
            </a:r>
            <a:endParaRPr lang="en-IN" sz="2600" b="0" dirty="0">
              <a:latin typeface="+mn-lt"/>
            </a:endParaRPr>
          </a:p>
          <a:p>
            <a:pPr marL="342900" lvl="0" indent="-342900" fontAlgn="t"/>
            <a:r>
              <a:rPr lang="en-IN" sz="2600" b="0" dirty="0">
                <a:solidFill>
                  <a:schemeClr val="tx1"/>
                </a:solidFill>
                <a:latin typeface="+mn-lt"/>
              </a:rPr>
              <a:t>Shared Memory stores outputs and the system consolidates final results.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6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3282847" y="57036"/>
            <a:ext cx="89091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/>
              <a:t>Multi-Agent AI for Autonomous Task Decomposition, Planning, and Collaborative Execution</a:t>
            </a:r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C18F5D-3E28-82EF-480F-6EDBB5DF0FD9}"/>
              </a:ext>
            </a:extLst>
          </p:cNvPr>
          <p:cNvSpPr/>
          <p:nvPr/>
        </p:nvSpPr>
        <p:spPr>
          <a:xfrm>
            <a:off x="10527540" y="651968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BD93E319-39E3-0CBB-AFC7-D88FFE45E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8592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2203" y="1574354"/>
            <a:ext cx="5181600" cy="4351338"/>
          </a:xfrm>
        </p:spPr>
        <p:txBody>
          <a:bodyPr>
            <a:normAutofit/>
          </a:bodyPr>
          <a:lstStyle/>
          <a:p>
            <a:pPr fontAlgn="t">
              <a:buNone/>
            </a:pPr>
            <a:r>
              <a:rPr lang="en-IN" dirty="0">
                <a:solidFill>
                  <a:schemeClr val="accent1"/>
                </a:solidFill>
              </a:rPr>
              <a:t>Data Processing</a:t>
            </a:r>
          </a:p>
          <a:p>
            <a:pPr marL="342900" lvl="0" indent="-342900" fontAlgn="t"/>
            <a:r>
              <a:rPr lang="en-IN" dirty="0"/>
              <a:t>Goal Input Collection</a:t>
            </a:r>
          </a:p>
          <a:p>
            <a:pPr marL="342900" lvl="0" indent="-342900" fontAlgn="t"/>
            <a:r>
              <a:rPr lang="en-IN" dirty="0"/>
              <a:t>Goal Analysis</a:t>
            </a:r>
          </a:p>
          <a:p>
            <a:pPr marL="342900" lvl="0" indent="-342900" fontAlgn="t"/>
            <a:r>
              <a:rPr lang="en-IN" dirty="0"/>
              <a:t>Task Extraction</a:t>
            </a:r>
          </a:p>
          <a:p>
            <a:pPr marL="342900" lvl="0" indent="-342900" fontAlgn="t"/>
            <a:r>
              <a:rPr lang="en-IN" dirty="0"/>
              <a:t>Task Prioritization</a:t>
            </a:r>
          </a:p>
          <a:p>
            <a:pPr marL="0" lvl="0" indent="0" fontAlgn="t">
              <a:buNone/>
            </a:pP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A20422E-B496-6E45-1BE6-85A79EAF7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45940" y="1574354"/>
            <a:ext cx="5181600" cy="4351338"/>
          </a:xfrm>
        </p:spPr>
        <p:txBody>
          <a:bodyPr>
            <a:normAutofit/>
          </a:bodyPr>
          <a:lstStyle/>
          <a:p>
            <a:pPr fontAlgn="t">
              <a:buNone/>
            </a:pPr>
            <a:r>
              <a:rPr lang="en-IN" dirty="0">
                <a:solidFill>
                  <a:schemeClr val="accent1"/>
                </a:solidFill>
              </a:rPr>
              <a:t>EDA (Exploratory Goal Analysis)</a:t>
            </a:r>
          </a:p>
          <a:p>
            <a:pPr marL="342900" lvl="0" indent="-342900" fontAlgn="t"/>
            <a:r>
              <a:rPr lang="en-IN" dirty="0"/>
              <a:t>Goal Pattern Analysis</a:t>
            </a:r>
          </a:p>
          <a:p>
            <a:pPr marL="342900" lvl="0" indent="-342900" fontAlgn="t"/>
            <a:r>
              <a:rPr lang="en-IN" dirty="0"/>
              <a:t>Task Distribution Analysis</a:t>
            </a:r>
          </a:p>
          <a:p>
            <a:pPr marL="342900" lvl="0" indent="-342900" fontAlgn="t"/>
            <a:r>
              <a:rPr lang="en-IN" dirty="0"/>
              <a:t>Goal Complexity Assessment</a:t>
            </a:r>
          </a:p>
          <a:p>
            <a:pPr marL="342900" lvl="0" indent="-342900" fontAlgn="t"/>
            <a:r>
              <a:rPr lang="en-IN" dirty="0"/>
              <a:t>Subtask Identification</a:t>
            </a:r>
          </a:p>
          <a:p>
            <a:pPr marL="342900" lvl="0" indent="-342900" fontAlgn="t"/>
            <a:r>
              <a:rPr lang="en-IN" dirty="0"/>
              <a:t>Execution Flow Analysis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3043003" y="57036"/>
            <a:ext cx="91489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/>
              <a:t>Multi-Agent AI for Autonomous Task Decomposition, Planning, and Collaborative Execution</a:t>
            </a:r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0C5C35-3DD2-F2BD-A708-03AAF6145D65}"/>
              </a:ext>
            </a:extLst>
          </p:cNvPr>
          <p:cNvSpPr/>
          <p:nvPr/>
        </p:nvSpPr>
        <p:spPr>
          <a:xfrm>
            <a:off x="10527540" y="651968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1634E531-2A33-8E3D-E51C-EF056ADB2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717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949696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Approach:</a:t>
            </a:r>
            <a:br>
              <a:rPr lang="en-IN" b="0" dirty="0"/>
            </a:br>
            <a:r>
              <a:rPr lang="en-IN" b="0" dirty="0">
                <a:solidFill>
                  <a:schemeClr val="bg2">
                    <a:lumMod val="10000"/>
                  </a:schemeClr>
                </a:solidFill>
              </a:rPr>
              <a:t>Hierarchical Multi-Agent Architecture for Autonomous Task Decomposition and Collaborative Execution.</a:t>
            </a:r>
          </a:p>
          <a:p>
            <a:pPr fontAlgn="t">
              <a:buNone/>
            </a:pPr>
            <a:r>
              <a:rPr lang="en-IN" dirty="0">
                <a:solidFill>
                  <a:schemeClr val="accent1"/>
                </a:solidFill>
              </a:rPr>
              <a:t>Algorithms:</a:t>
            </a:r>
            <a:endParaRPr lang="en-IN" b="0" dirty="0">
              <a:solidFill>
                <a:schemeClr val="accent1"/>
              </a:solidFill>
            </a:endParaRPr>
          </a:p>
          <a:p>
            <a:pPr marL="342900" lvl="0" indent="-342900" fontAlgn="t"/>
            <a:r>
              <a:rPr lang="en-IN" sz="2400" b="0" dirty="0">
                <a:solidFill>
                  <a:schemeClr val="tx1"/>
                </a:solidFill>
              </a:rPr>
              <a:t>Goal Decomposition Algorithm</a:t>
            </a:r>
          </a:p>
          <a:p>
            <a:pPr marL="342900" lvl="0" indent="-342900" fontAlgn="t"/>
            <a:r>
              <a:rPr lang="en-IN" sz="2400" b="0" dirty="0">
                <a:solidFill>
                  <a:schemeClr val="tx1"/>
                </a:solidFill>
              </a:rPr>
              <a:t>Hierarchical Task Planning</a:t>
            </a:r>
          </a:p>
          <a:p>
            <a:pPr marL="342900" lvl="0" indent="-342900" fontAlgn="t"/>
            <a:r>
              <a:rPr lang="en-IN" sz="2400" b="0" dirty="0">
                <a:solidFill>
                  <a:schemeClr val="tx1"/>
                </a:solidFill>
              </a:rPr>
              <a:t>Task Allocation Strategy</a:t>
            </a:r>
          </a:p>
          <a:p>
            <a:pPr marL="342900" lvl="0" indent="-342900" fontAlgn="t"/>
            <a:r>
              <a:rPr lang="en-IN" sz="2400" b="0" dirty="0">
                <a:solidFill>
                  <a:schemeClr val="tx1"/>
                </a:solidFill>
              </a:rPr>
              <a:t>Agent Coordination Mechanism</a:t>
            </a:r>
          </a:p>
          <a:p>
            <a:pPr marL="342900" lvl="0" indent="-342900" fontAlgn="t"/>
            <a:r>
              <a:rPr lang="en-IN" sz="2400" b="0" dirty="0">
                <a:solidFill>
                  <a:schemeClr val="tx1"/>
                </a:solidFill>
              </a:rPr>
              <a:t>Result Aggregation Process</a:t>
            </a:r>
          </a:p>
          <a:p>
            <a:pPr marL="0" indent="0" fontAlgn="t">
              <a:buNone/>
            </a:pPr>
            <a:r>
              <a:rPr lang="en-IN" dirty="0"/>
              <a:t>Tools </a:t>
            </a:r>
          </a:p>
          <a:p>
            <a:pPr marL="0" indent="0" fontAlgn="t">
              <a:buNone/>
            </a:pPr>
            <a:r>
              <a:rPr lang="en-IN" sz="2400" b="0" dirty="0">
                <a:solidFill>
                  <a:schemeClr val="tx1"/>
                </a:solidFill>
              </a:rPr>
              <a:t>Python, Stream lit, </a:t>
            </a:r>
            <a:r>
              <a:rPr lang="en-IN" sz="2400" b="0" dirty="0" err="1">
                <a:solidFill>
                  <a:schemeClr val="tx1"/>
                </a:solidFill>
              </a:rPr>
              <a:t>GroqAPI</a:t>
            </a:r>
            <a:r>
              <a:rPr lang="en-IN" sz="2400" b="0" dirty="0">
                <a:solidFill>
                  <a:schemeClr val="tx1"/>
                </a:solidFill>
              </a:rPr>
              <a:t>, Lang Chain, Py test, VS Code, Python </a:t>
            </a:r>
            <a:r>
              <a:rPr lang="en-IN" sz="2400" b="0" dirty="0" err="1">
                <a:solidFill>
                  <a:schemeClr val="tx1"/>
                </a:solidFill>
              </a:rPr>
              <a:t>Dotenv</a:t>
            </a:r>
            <a:r>
              <a:rPr lang="en-IN" sz="2400" b="0" dirty="0">
                <a:solidFill>
                  <a:schemeClr val="tx1"/>
                </a:solidFill>
              </a:rPr>
              <a:t>, Git, GitHub, Virtual Environment (</a:t>
            </a:r>
            <a:r>
              <a:rPr lang="en-IN" sz="2400" b="0" dirty="0" err="1">
                <a:solidFill>
                  <a:schemeClr val="tx1"/>
                </a:solidFill>
              </a:rPr>
              <a:t>venv</a:t>
            </a:r>
            <a:r>
              <a:rPr lang="en-IN" sz="2400" b="0" dirty="0">
                <a:solidFill>
                  <a:schemeClr val="tx1"/>
                </a:solidFill>
              </a:rPr>
              <a:t>)</a:t>
            </a:r>
            <a:br>
              <a:rPr lang="en-IN" sz="2400" b="0" dirty="0">
                <a:solidFill>
                  <a:schemeClr val="tx1"/>
                </a:solidFill>
              </a:rPr>
            </a:br>
            <a:endParaRPr lang="en-IN" sz="2400" b="0" dirty="0">
              <a:solidFill>
                <a:schemeClr val="tx1"/>
              </a:solidFill>
            </a:endParaRPr>
          </a:p>
          <a:p>
            <a:pPr marL="0" indent="0" fontAlgn="t">
              <a:buNone/>
            </a:pPr>
            <a:endParaRPr lang="en-IN" dirty="0"/>
          </a:p>
          <a:p>
            <a:pPr marL="0" indent="0" fontAlgn="t">
              <a:buNone/>
            </a:pPr>
            <a:endParaRPr lang="en-IN" dirty="0"/>
          </a:p>
          <a:p>
            <a:pPr marL="0" lvl="0" indent="0" fontAlgn="t">
              <a:buNone/>
            </a:pPr>
            <a:endParaRPr lang="en-IN" sz="2400" b="0" dirty="0">
              <a:solidFill>
                <a:schemeClr val="tx1"/>
              </a:solidFill>
            </a:endParaRPr>
          </a:p>
          <a:p>
            <a:pPr marL="0" lvl="0" indent="0" fontAlgn="t">
              <a:buNone/>
            </a:pPr>
            <a:endParaRPr lang="en-IN" sz="2400" b="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3477719" y="57036"/>
            <a:ext cx="87142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/>
              <a:t>Multi-Agent AI for Autonomous Task Decomposition, Planning, and Collaborative Execution</a:t>
            </a:r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B594B9-8B47-068A-FCD6-B0F9E2AC6DF6}"/>
              </a:ext>
            </a:extLst>
          </p:cNvPr>
          <p:cNvSpPr/>
          <p:nvPr/>
        </p:nvSpPr>
        <p:spPr>
          <a:xfrm>
            <a:off x="10527540" y="651968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6776ACB1-03FA-7AF9-856B-990EB024B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541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r>
              <a:rPr lang="en-IN" b="0" dirty="0">
                <a:solidFill>
                  <a:schemeClr val="tx1"/>
                </a:solidFill>
                <a:latin typeface="+mn-lt"/>
              </a:rPr>
              <a:t>Project Initialization &amp; Environment Setup</a:t>
            </a:r>
          </a:p>
          <a:p>
            <a:r>
              <a:rPr lang="en-IN" b="0" dirty="0">
                <a:solidFill>
                  <a:schemeClr val="tx1"/>
                </a:solidFill>
                <a:latin typeface="+mn-lt"/>
              </a:rPr>
              <a:t>Multi-Agent Architecture Design</a:t>
            </a:r>
          </a:p>
          <a:p>
            <a:r>
              <a:rPr lang="en-IN" b="0" dirty="0">
                <a:solidFill>
                  <a:schemeClr val="tx1"/>
                </a:solidFill>
                <a:latin typeface="+mn-lt"/>
              </a:rPr>
              <a:t>Manager, Supervisor &amp; Worker Agent Development</a:t>
            </a:r>
          </a:p>
          <a:p>
            <a:r>
              <a:rPr lang="en-IN" b="0" dirty="0">
                <a:solidFill>
                  <a:schemeClr val="tx1"/>
                </a:solidFill>
                <a:latin typeface="+mn-lt"/>
              </a:rPr>
              <a:t>Shared Memory Integration &amp; Task Coordination</a:t>
            </a:r>
          </a:p>
          <a:p>
            <a:r>
              <a:rPr lang="en-IN" b="0" dirty="0">
                <a:solidFill>
                  <a:schemeClr val="tx1"/>
                </a:solidFill>
                <a:latin typeface="+mn-lt"/>
              </a:rPr>
              <a:t>Testing, Validation &amp; Final Deployment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milestones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progress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3297837" y="57036"/>
            <a:ext cx="88941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/>
              <a:t>Multi-Agent AI for Autonomous Task Decomposition, Planning, and Collaborative Execution</a:t>
            </a:r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DA3EE8-390F-70E2-A87A-CE65EE4FF72D}"/>
              </a:ext>
            </a:extLst>
          </p:cNvPr>
          <p:cNvSpPr/>
          <p:nvPr/>
        </p:nvSpPr>
        <p:spPr>
          <a:xfrm>
            <a:off x="10527540" y="651968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5FAB0A9D-76F0-3B9A-81AE-6F1DDD7E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6853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Goal Input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↓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Manager Agent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↓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Supervisor Agent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↓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Worker Agent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↓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Shared Memory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↓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Final Output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2518349" y="57036"/>
            <a:ext cx="96736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/>
              <a:t>Multi-Agent AI for Autonomous Task Decomposition, Planning, and Collaborative Execution</a:t>
            </a:r>
          </a:p>
          <a:p>
            <a:pPr algn="r"/>
            <a:endParaRPr lang="en-US" dirty="0"/>
          </a:p>
          <a:p>
            <a:pPr algn="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FDB8CE-858D-0019-9DAC-C25A99A5C536}"/>
              </a:ext>
            </a:extLst>
          </p:cNvPr>
          <p:cNvSpPr/>
          <p:nvPr/>
        </p:nvSpPr>
        <p:spPr>
          <a:xfrm>
            <a:off x="10527540" y="6519680"/>
            <a:ext cx="168389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2F881C3E-DA77-1609-8D35-D377E5D5D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9239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1277</Words>
  <Application>Microsoft Office PowerPoint</Application>
  <PresentationFormat>Widescreen</PresentationFormat>
  <Paragraphs>192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Sowmiya C</cp:lastModifiedBy>
  <cp:revision>20</cp:revision>
  <dcterms:created xsi:type="dcterms:W3CDTF">2024-05-13T10:33:11Z</dcterms:created>
  <dcterms:modified xsi:type="dcterms:W3CDTF">2026-10-14T16:26:43Z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