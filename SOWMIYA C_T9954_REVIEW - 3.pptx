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147470489" r:id="rId2"/>
    <p:sldId id="2147470492" r:id="rId3"/>
    <p:sldId id="2147470493" r:id="rId4"/>
    <p:sldId id="2147470487" r:id="rId5"/>
    <p:sldId id="2147470504" r:id="rId6"/>
    <p:sldId id="2147470505" r:id="rId7"/>
    <p:sldId id="2147470494" r:id="rId8"/>
    <p:sldId id="2147470501" r:id="rId9"/>
    <p:sldId id="2147470498" r:id="rId10"/>
    <p:sldId id="2147470506" r:id="rId11"/>
    <p:sldId id="2147470521" r:id="rId12"/>
    <p:sldId id="2147470497" r:id="rId13"/>
    <p:sldId id="2147470499" r:id="rId14"/>
    <p:sldId id="2147470507" r:id="rId15"/>
    <p:sldId id="2147470503" r:id="rId16"/>
    <p:sldId id="2147470508" r:id="rId17"/>
    <p:sldId id="2147470509" r:id="rId18"/>
    <p:sldId id="2147470510" r:id="rId19"/>
    <p:sldId id="2147470511" r:id="rId20"/>
    <p:sldId id="2147470512" r:id="rId21"/>
    <p:sldId id="2147470513" r:id="rId22"/>
    <p:sldId id="2147470514" r:id="rId23"/>
    <p:sldId id="2147470515" r:id="rId24"/>
    <p:sldId id="2147470516" r:id="rId25"/>
    <p:sldId id="2147470517" r:id="rId26"/>
    <p:sldId id="2147470518" r:id="rId27"/>
    <p:sldId id="214747052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44722-9BD2-49E3-B0C0-1BB986852F6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5429F-0610-43B0-9203-18360EBF5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90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5429F-0610-43B0-9203-18360EBF5B6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277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 I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Self Corrective RAG with Adaptive Evidence Verification for 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Hallucination Resistant Answer Generation</a:t>
            </a:r>
          </a:p>
          <a:p>
            <a:pPr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 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SOWMIYA C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T9954 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COLLEGE</a:t>
            </a:r>
          </a:p>
          <a:p>
            <a:pPr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514143-BCC6-36C1-7359-D686B00CE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4503" y="5198178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Retrieval-Augmented Generation (RAG) combines information retrieval with large language models to generate accurate answers.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Traditional RAG may retrieve irrelevant or insufficient evidence, leading to hallucinated responses.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This project introduces a self-corrective RAG system that verifies retrieved evidence before generating the final answer.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The system improves answer accuracy, reliability, and faithfulness through adaptive evidence verification and correction.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47FFB-2070-B16C-6366-82CC16352F69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2" name="Picture 11" descr="LTM Limited (Formerly LTIMindtree Limited)">
            <a:extLst>
              <a:ext uri="{FF2B5EF4-FFF2-40B4-BE49-F238E27FC236}">
                <a16:creationId xmlns:a16="http://schemas.microsoft.com/office/drawing/2014/main" id="{6C6AD6D6-B8C5-3B06-35B3-A7023121C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To develop a self-corrective Retrieval-Augmented Generation (RAG) system.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To retrieve relevant and reliable evidence for user queries.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To verify the retrieved evidence before generating answers.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To identify and correct hallucinated or unsupported responses.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To improve answer accuracy, faithfulness, and reliability. </a:t>
            </a:r>
          </a:p>
          <a:p>
            <a:pPr marL="0" lvl="0" indent="0" algn="just"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06E73-71CA-C721-62D7-077047BECCD2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88401ADD-5C3D-EC7A-51EB-7DEBF3289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859757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  <a:cs typeface="Lao UI" panose="020F0502020204030204" pitchFamily="34" charset="0"/>
              </a:rPr>
              <a:t>1. Dataset Collection &amp; Preprocessing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  <a:cs typeface="Lao UI" panose="020F0502020204030204" pitchFamily="34" charset="0"/>
              </a:rPr>
              <a:t>Collect the HotpotQA dataset. 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  <a:cs typeface="Lao UI" panose="020F0502020204030204" pitchFamily="34" charset="0"/>
              </a:rPr>
              <a:t>Clean and preprocess questions, answers, and supporting documents. 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  <a:cs typeface="Lao UI" panose="020F0502020204030204" pitchFamily="34" charset="0"/>
              </a:rPr>
              <a:t>Split the data into suitable training/testing sets.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2. Document Processing &amp; Vector Database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</a:rPr>
              <a:t>Convert documents into chunks. 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</a:rPr>
              <a:t>Generate embeddings using Sentence Transformers. 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</a:rPr>
              <a:t>Store embeddings in ChromaDB for semantic retrieval.</a:t>
            </a:r>
          </a:p>
          <a:p>
            <a:pPr marL="0" lvl="0" indent="0">
              <a:buNone/>
            </a:pPr>
            <a:endParaRPr lang="en-IN" b="0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  <a:p>
            <a:pPr marL="0" indent="0">
              <a:buNone/>
            </a:pPr>
            <a:endParaRPr lang="en-US" sz="2400" b="0" dirty="0">
              <a:solidFill>
                <a:srgbClr val="242424"/>
              </a:solidFill>
              <a:highlight>
                <a:srgbClr val="FFFFFF"/>
              </a:highlight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51C12B-9C41-96AE-033A-EC7257D287B1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1029B2CB-ED9A-7CB1-103E-5122867F2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F293A2E-C7CA-938C-739E-8EA6D78E91A9}"/>
              </a:ext>
            </a:extLst>
          </p:cNvPr>
          <p:cNvSpPr/>
          <p:nvPr/>
        </p:nvSpPr>
        <p:spPr>
          <a:xfrm>
            <a:off x="10679940" y="66720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3" name="Picture 12" descr="LTM Limited (Formerly LTIMindtree Limited)">
            <a:extLst>
              <a:ext uri="{FF2B5EF4-FFF2-40B4-BE49-F238E27FC236}">
                <a16:creationId xmlns:a16="http://schemas.microsoft.com/office/drawing/2014/main" id="{B233A86F-672E-E59E-DE69-8456C967D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9284" y="67639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9A14B1-F421-15CE-279F-1FC3FDE08B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215176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>
                <a:latin typeface="+mn-lt"/>
              </a:rPr>
              <a:t>3. Query &amp; Evidence Retrieval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+mn-lt"/>
              </a:rPr>
              <a:t>Accept the user's question. 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+mn-lt"/>
              </a:rPr>
              <a:t>Retrieve the most relevant document passages from the vector database.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4. Adaptive Evidence Verification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Check the relevance and sufficiency of retrieved evidence.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Identify irrelevant or insufficient passages.</a:t>
            </a:r>
          </a:p>
          <a:p>
            <a:pPr lvl="0"/>
            <a:endParaRPr lang="en-IN" b="0" dirty="0">
              <a:solidFill>
                <a:schemeClr val="tx1"/>
              </a:solidFill>
              <a:latin typeface="+mn-lt"/>
            </a:endParaRPr>
          </a:p>
          <a:p>
            <a:pPr marL="0" lvl="0" indent="0">
              <a:buNone/>
            </a:pPr>
            <a:endParaRPr lang="en-IN" dirty="0">
              <a:latin typeface="+mn-lt"/>
            </a:endParaRPr>
          </a:p>
          <a:p>
            <a:pPr marL="0" lvl="0" indent="0" algn="just">
              <a:buNone/>
            </a:pPr>
            <a:endParaRPr lang="en-IN" dirty="0">
              <a:latin typeface="+mn-lt"/>
            </a:endParaRPr>
          </a:p>
          <a:p>
            <a:pPr marL="0" lvl="0" indent="0">
              <a:buNone/>
            </a:pPr>
            <a:endParaRPr lang="en-IN" dirty="0">
              <a:latin typeface="+mn-lt"/>
            </a:endParaRPr>
          </a:p>
          <a:p>
            <a:pPr marL="0" indent="0">
              <a:buNone/>
            </a:pPr>
            <a:endParaRPr lang="en-IN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833F7-647B-811C-5520-55342FBD44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 to cover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E20B68-8C71-BB26-F953-3E485688E6A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E068CF-F572-8178-2BFC-7AC7F9A48767}"/>
              </a:ext>
            </a:extLst>
          </p:cNvPr>
          <p:cNvSpPr txBox="1"/>
          <p:nvPr/>
        </p:nvSpPr>
        <p:spPr>
          <a:xfrm>
            <a:off x="8154649" y="1948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72CC3-5C07-8A67-B49F-52C6B9E11F19}"/>
              </a:ext>
            </a:extLst>
          </p:cNvPr>
          <p:cNvSpPr txBox="1"/>
          <p:nvPr/>
        </p:nvSpPr>
        <p:spPr>
          <a:xfrm>
            <a:off x="6098500" y="-2257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/>
              <a:t>Self Corrective RAG With Adaptive Evidence Verification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04666A-62D8-C4C6-A8C3-A32799F97FA2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" name="Picture 9" descr="LTM Limited (Formerly LTIMindtree Limited)">
            <a:extLst>
              <a:ext uri="{FF2B5EF4-FFF2-40B4-BE49-F238E27FC236}">
                <a16:creationId xmlns:a16="http://schemas.microsoft.com/office/drawing/2014/main" id="{6ED0346F-3417-368C-A055-31122E3E4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28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76E7B1-D342-964F-E418-C5549A854A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8"/>
            <a:ext cx="10624338" cy="4574937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</a:rPr>
              <a:t>5. Self-Correction &amp; Answer Generation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Generate an answer using verified evidence.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If evidence is insufficient, re-retrieve or correct the response.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6. Evaluation &amp; User Interface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Evaluate accuracy, faithfulness, retrieval relevance, and hallucination reduction.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Develop a simple Stream lit interface for users to ask questions and view answers. </a:t>
            </a:r>
          </a:p>
          <a:p>
            <a:pPr marL="0" lvl="0" indent="0">
              <a:buNone/>
            </a:pPr>
            <a:endParaRPr lang="en-IN" b="0" dirty="0">
              <a:latin typeface="+mn-lt"/>
            </a:endParaRPr>
          </a:p>
          <a:p>
            <a:pPr marL="0" indent="0">
              <a:buNone/>
            </a:pPr>
            <a:endParaRPr lang="en-IN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8045F-307D-1778-162D-80B2760967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 to cover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DF5DE2-E6D4-A5EB-3338-81187D2E231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2B911FE-0373-D5B2-3AE9-3E723AAAAA29}"/>
              </a:ext>
            </a:extLst>
          </p:cNvPr>
          <p:cNvSpPr txBox="1"/>
          <p:nvPr/>
        </p:nvSpPr>
        <p:spPr>
          <a:xfrm>
            <a:off x="6098500" y="-23037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/>
              <a:t>Self Corrective RAG With Adaptive Evidence Verification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CCD6D-3A1F-B712-CE19-776F9DE666F5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2E2F41CB-2F7A-045F-9E7D-0F6AC51BD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74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Traditional Large Language Models often generate responses without validating factual correctness.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Generated answers may contain unsupported information, leading to hallucinations.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Users cannot easily determine whether an answer is backed by reliable evidence.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Existing RAG systems retrieve information but may still produce inaccurate responses.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A reliable mechanism is required to verify evidence, detect hallucinations, and provide trustworthy answers.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607600-9397-57C9-B56A-07D94388BC3C}"/>
              </a:ext>
            </a:extLst>
          </p:cNvPr>
          <p:cNvSpPr/>
          <p:nvPr/>
        </p:nvSpPr>
        <p:spPr>
          <a:xfrm>
            <a:off x="10527540" y="6534194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534487F5-0887-AC06-F207-BCEC6C590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26070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4"/>
            <a:ext cx="11326404" cy="5084231"/>
          </a:xfrm>
        </p:spPr>
        <p:txBody>
          <a:bodyPr/>
          <a:lstStyle/>
          <a:p>
            <a:pPr fontAlgn="t"/>
            <a:r>
              <a:rPr lang="en-IN" sz="2400" dirty="0">
                <a:latin typeface="+mn-lt"/>
              </a:rPr>
              <a:t>Document Collection and Preprocessing</a:t>
            </a:r>
            <a:endParaRPr lang="en-IN" sz="2400" b="0" dirty="0">
              <a:latin typeface="+mn-lt"/>
            </a:endParaRPr>
          </a:p>
          <a:p>
            <a:pPr lvl="1" fontAlgn="t"/>
            <a:r>
              <a:rPr lang="en-IN" dirty="0"/>
              <a:t>Collect source documents and clean the text for indexing.</a:t>
            </a:r>
          </a:p>
          <a:p>
            <a:pPr fontAlgn="t"/>
            <a:r>
              <a:rPr lang="en-IN" sz="2400" dirty="0">
                <a:latin typeface="+mn-lt"/>
              </a:rPr>
              <a:t>Knowledge Base Creation</a:t>
            </a:r>
            <a:endParaRPr lang="en-IN" sz="2400" b="0" dirty="0">
              <a:latin typeface="+mn-lt"/>
            </a:endParaRPr>
          </a:p>
          <a:p>
            <a:pPr lvl="1" fontAlgn="t"/>
            <a:r>
              <a:rPr lang="en-IN" dirty="0"/>
              <a:t>Generate embeddings and store documents in Chroma DB for efficient retrieval.</a:t>
            </a:r>
          </a:p>
          <a:p>
            <a:pPr fontAlgn="t"/>
            <a:r>
              <a:rPr lang="en-IN" sz="2400" dirty="0">
                <a:latin typeface="+mn-lt"/>
              </a:rPr>
              <a:t>Question Retrieval and Answer Generation</a:t>
            </a:r>
            <a:endParaRPr lang="en-IN" sz="2400" b="0" dirty="0">
              <a:latin typeface="+mn-lt"/>
            </a:endParaRPr>
          </a:p>
          <a:p>
            <a:pPr lvl="1" fontAlgn="t"/>
            <a:r>
              <a:rPr lang="en-IN" dirty="0"/>
              <a:t>Retrieve relevant document chunks and generate answers using an LLM.</a:t>
            </a:r>
          </a:p>
          <a:p>
            <a:pPr fontAlgn="t"/>
            <a:r>
              <a:rPr lang="en-IN" sz="2400" dirty="0">
                <a:latin typeface="+mn-lt"/>
              </a:rPr>
              <a:t>Adaptive Evidence Verification</a:t>
            </a:r>
            <a:endParaRPr lang="en-IN" sz="2400" b="0" dirty="0">
              <a:latin typeface="+mn-lt"/>
            </a:endParaRPr>
          </a:p>
          <a:p>
            <a:pPr lvl="1" fontAlgn="t"/>
            <a:r>
              <a:rPr lang="en-IN" dirty="0"/>
              <a:t>Validate generated answers against retrieved evidence and assign a verification score.</a:t>
            </a:r>
          </a:p>
          <a:p>
            <a:pPr fontAlgn="t"/>
            <a:r>
              <a:rPr lang="en-IN" sz="2400" dirty="0">
                <a:latin typeface="+mn-lt"/>
              </a:rPr>
              <a:t>Self-Correction and Evaluation</a:t>
            </a:r>
            <a:endParaRPr lang="en-IN" sz="2400" b="0" dirty="0">
              <a:latin typeface="+mn-lt"/>
            </a:endParaRPr>
          </a:p>
          <a:p>
            <a:pPr lvl="1" fontAlgn="t"/>
            <a:r>
              <a:rPr lang="en-IN" dirty="0"/>
              <a:t>Re-retrieve information, regenerate answers when verification fails, and evaluate performance using test questions.</a:t>
            </a:r>
          </a:p>
          <a:p>
            <a:pPr marL="0" indent="0" fontAlgn="t">
              <a:buNone/>
            </a:pPr>
            <a:endParaRPr lang="en-IN" sz="2400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02501-7708-0A9B-1519-6BF91B8E1E1C}"/>
              </a:ext>
            </a:extLst>
          </p:cNvPr>
          <p:cNvSpPr/>
          <p:nvPr/>
        </p:nvSpPr>
        <p:spPr>
          <a:xfrm>
            <a:off x="10527540" y="6534194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1" name="Picture 10" descr="LTM Limited (Formerly LTIMindtree Limited)">
            <a:extLst>
              <a:ext uri="{FF2B5EF4-FFF2-40B4-BE49-F238E27FC236}">
                <a16:creationId xmlns:a16="http://schemas.microsoft.com/office/drawing/2014/main" id="{4DD4A5BC-6E59-11FB-8FFB-A5A553C5F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26070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fontAlgn="t">
              <a:buNone/>
            </a:pPr>
            <a:r>
              <a:rPr lang="en-IN" dirty="0">
                <a:latin typeface="+mn-lt"/>
              </a:rPr>
              <a:t>Approach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Developed a Self-Corrective RAG framework that retrieves relevant information, verifies generated responses, and reduces hallucinations through iterative correction.</a:t>
            </a:r>
          </a:p>
          <a:p>
            <a:pPr fontAlgn="t">
              <a:buNone/>
            </a:pPr>
            <a:r>
              <a:rPr lang="en-IN" dirty="0">
                <a:latin typeface="+mn-lt"/>
              </a:rPr>
              <a:t>Algorithms</a:t>
            </a:r>
          </a:p>
          <a:p>
            <a:pPr fontAlgn="t"/>
            <a:r>
              <a:rPr lang="en-IN" b="0" dirty="0">
                <a:solidFill>
                  <a:schemeClr val="tx1"/>
                </a:solidFill>
                <a:latin typeface="+mn-lt"/>
              </a:rPr>
              <a:t>Semantic Retrieval using vector embeddings and ChromaDB to fetch relevant documents.</a:t>
            </a:r>
          </a:p>
          <a:p>
            <a:pPr fontAlgn="t"/>
            <a:r>
              <a:rPr lang="en-IN" b="0" dirty="0">
                <a:solidFill>
                  <a:schemeClr val="tx1"/>
                </a:solidFill>
                <a:latin typeface="+mn-lt"/>
              </a:rPr>
              <a:t>Retrieval-Augmented Generation (RAG) to generate context-aware answers from retrieved evidence.</a:t>
            </a:r>
            <a:br>
              <a:rPr lang="en-IN" b="0" dirty="0">
                <a:solidFill>
                  <a:schemeClr val="tx1"/>
                </a:solidFill>
                <a:latin typeface="+mn-lt"/>
              </a:rPr>
            </a:b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7D6F1D-DB4E-8750-F600-1B7CAB137E81}"/>
              </a:ext>
            </a:extLst>
          </p:cNvPr>
          <p:cNvSpPr/>
          <p:nvPr/>
        </p:nvSpPr>
        <p:spPr>
          <a:xfrm>
            <a:off x="10527540" y="6548708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085E019F-93E5-5AB7-53FD-AAAAEB295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40584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3181F-0AAE-FCFE-0DFC-F404139BE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8FF92E-8F3F-15C5-605C-3F8F5AAB70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532677"/>
          </a:xfrm>
        </p:spPr>
        <p:txBody>
          <a:bodyPr/>
          <a:lstStyle/>
          <a:p>
            <a:pPr fontAlgn="t">
              <a:buNone/>
            </a:pPr>
            <a:r>
              <a:rPr lang="en-IN" dirty="0">
                <a:latin typeface="+mn-lt"/>
              </a:rPr>
              <a:t>Algorithms</a:t>
            </a:r>
          </a:p>
          <a:p>
            <a:pPr fontAlgn="t"/>
            <a:r>
              <a:rPr lang="en-IN" b="0" dirty="0">
                <a:solidFill>
                  <a:schemeClr val="tx1"/>
                </a:solidFill>
                <a:latin typeface="+mn-lt"/>
              </a:rPr>
              <a:t>Adaptive Evidence Verification to validate generated responses against supporting documents.</a:t>
            </a:r>
          </a:p>
          <a:p>
            <a:pPr fontAlgn="t"/>
            <a:r>
              <a:rPr lang="en-IN" b="0" dirty="0">
                <a:solidFill>
                  <a:schemeClr val="tx1"/>
                </a:solidFill>
                <a:latin typeface="+mn-lt"/>
              </a:rPr>
              <a:t>Hallucination Detection to identify unsupported claims in generated answers.</a:t>
            </a:r>
          </a:p>
          <a:p>
            <a:pPr fontAlgn="t"/>
            <a:r>
              <a:rPr lang="en-IN" b="0" dirty="0">
                <a:solidFill>
                  <a:schemeClr val="tx1"/>
                </a:solidFill>
                <a:latin typeface="+mn-lt"/>
              </a:rPr>
              <a:t>Self-Correction Loop to refine responses through re-retrieval and verification.</a:t>
            </a:r>
          </a:p>
          <a:p>
            <a:pPr fontAlgn="t">
              <a:buNone/>
            </a:pPr>
            <a:r>
              <a:rPr lang="en-IN" dirty="0"/>
              <a:t>Tools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</a:rPr>
              <a:t>• Python, Stream lit, Fast API, Chroma DB, Lang Chain, Sentence Transformers, Hotpot QA, GitHub, Railway, Stream lit Cloud.</a:t>
            </a:r>
          </a:p>
          <a:p>
            <a:pPr marL="0" indent="0" fontAlgn="t">
              <a:buNone/>
            </a:pPr>
            <a:endParaRPr lang="en-IN" b="0" dirty="0">
              <a:solidFill>
                <a:schemeClr val="tx1"/>
              </a:solidFill>
              <a:latin typeface="+mn-lt"/>
            </a:endParaRPr>
          </a:p>
          <a:p>
            <a:pPr fontAlgn="t">
              <a:buNone/>
            </a:pPr>
            <a:endParaRPr lang="en-IN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BC0B7-06FD-F61D-173E-11F73BFF705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A6B8BF-1535-2BB2-79D8-CDCE06DDC0F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E047773-E6A6-D738-7495-BD2A6F0AC6FE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1235EC-1B14-0077-3D86-9444EA7EF7EF}"/>
              </a:ext>
            </a:extLst>
          </p:cNvPr>
          <p:cNvSpPr/>
          <p:nvPr/>
        </p:nvSpPr>
        <p:spPr>
          <a:xfrm>
            <a:off x="10527540" y="6534194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9AF64056-99DD-B66D-661F-D9AA84B9E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26070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931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User Query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Document Retrieval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Answer Generation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Evidence Verification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Hallucination Detection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Self-Correction Loop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Final Verified Answer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AFF682-6002-6EE9-27F5-9E5997252B0F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B2B1309A-B1A8-9E5D-5F83-E2A1F33A2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04DACFD-7235-FF48-1B14-8D9BEB6346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574535" y="1399011"/>
            <a:ext cx="7305799" cy="48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1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395018"/>
          </a:xfrm>
        </p:spPr>
        <p:txBody>
          <a:bodyPr/>
          <a:lstStyle/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Adaptive Evidence Verification successfully identified whether generated answers were supported by retrieved evidence.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Hallucination Detection effectively detected unsupported claims and prevented unreliable responses.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The Self-Correction mechanism improved answer quality by re-retrieving and refining responses.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Semantic retrieval from ChromaDB enabled relevant context selection for question answering.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The integrated framework produced more trustworthy and evidence-grounded responses compared to direct answer generation.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7324E9-C933-A074-B577-C4E6996095FA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E6DBA62D-80FE-D6F3-B7E5-E45DD3261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The proposed system effectively combines retrieval, verification, and correction to improve response quality.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Adaptive evidence verification helps ensure answers are supported by relevant information.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Hallucination detection enhances the reliability and trustworthiness of generated responses.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The self-correction mechanism improves response accuracy by refining unsupported answers.</a:t>
            </a:r>
          </a:p>
          <a:p>
            <a:pPr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• The framework provides a robust foundation for developing dependable and evidence-grounded question-answering systems.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Self Corrective RAG With Adaptive Evidence Verification 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AB3B0-2FA6-FDDD-BF0A-1F744BF83975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43F919F6-3DC9-D48F-877C-B87E6DE1C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51BC7-AA69-B708-3ADE-53C474B62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12FE5B67-08B0-1BE9-5651-A11050FF33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6189" y="1549407"/>
            <a:ext cx="6197103" cy="41168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FD7D6C-66C1-0A59-E109-1469F41C631F}"/>
              </a:ext>
            </a:extLst>
          </p:cNvPr>
          <p:cNvSpPr txBox="1"/>
          <p:nvPr/>
        </p:nvSpPr>
        <p:spPr>
          <a:xfrm>
            <a:off x="221274" y="53296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Result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F7CA5C-B14D-15DE-0321-255B7DE7F2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5AB0A1-B92B-5158-8305-FB6EDC66D6F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56C15D0-7BD8-4EA5-599B-487294D342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21274" y="1337721"/>
            <a:ext cx="5674915" cy="445347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64CA3A3-434B-AA91-7BCD-4ACCF85DCDA7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2" name="Picture 21" descr="LTM Limited (Formerly LTIMindtree Limited)">
            <a:extLst>
              <a:ext uri="{FF2B5EF4-FFF2-40B4-BE49-F238E27FC236}">
                <a16:creationId xmlns:a16="http://schemas.microsoft.com/office/drawing/2014/main" id="{8103CEBC-17FF-EBDB-C594-7403827DB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4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5084233"/>
          </a:xfrm>
        </p:spPr>
        <p:txBody>
          <a:bodyPr/>
          <a:lstStyle/>
          <a:p>
            <a:pPr lvl="0"/>
            <a:r>
              <a:rPr lang="en-IN" sz="2700" b="0" dirty="0">
                <a:solidFill>
                  <a:schemeClr val="tx1"/>
                </a:solidFill>
                <a:latin typeface="+mn-lt"/>
              </a:rPr>
              <a:t>Lewis et al. (2020) – </a:t>
            </a:r>
            <a:r>
              <a:rPr lang="en-IN" sz="2700" b="0" i="1" dirty="0">
                <a:solidFill>
                  <a:schemeClr val="tx1"/>
                </a:solidFill>
                <a:latin typeface="+mn-lt"/>
              </a:rPr>
              <a:t>Retrieval-Augmented Generation for Knowledge-Intensive NLP Tasks.</a:t>
            </a:r>
            <a:r>
              <a:rPr lang="en-IN" sz="2700" b="0" dirty="0">
                <a:solidFill>
                  <a:schemeClr val="tx1"/>
                </a:solidFill>
                <a:latin typeface="+mn-lt"/>
              </a:rPr>
              <a:t> Introduced the RAG approach for improving knowledge-based question answering. </a:t>
            </a:r>
          </a:p>
          <a:p>
            <a:pPr lvl="0"/>
            <a:r>
              <a:rPr lang="en-IN" sz="2700" b="0" dirty="0">
                <a:solidFill>
                  <a:schemeClr val="tx1"/>
                </a:solidFill>
                <a:latin typeface="+mn-lt"/>
              </a:rPr>
              <a:t>Asai et al. (2024) – </a:t>
            </a:r>
            <a:r>
              <a:rPr lang="en-IN" sz="2700" b="0" i="1" dirty="0">
                <a:solidFill>
                  <a:schemeClr val="tx1"/>
                </a:solidFill>
                <a:latin typeface="+mn-lt"/>
              </a:rPr>
              <a:t>Self-RAG: Learning to Retrieve, Generate, and Critique through Self-Reflection.</a:t>
            </a:r>
            <a:r>
              <a:rPr lang="en-IN" sz="2700" b="0" dirty="0">
                <a:solidFill>
                  <a:schemeClr val="tx1"/>
                </a:solidFill>
                <a:latin typeface="+mn-lt"/>
              </a:rPr>
              <a:t> Introduced self-reflection for better retrieval and answer generation. </a:t>
            </a:r>
          </a:p>
          <a:p>
            <a:pPr lvl="0"/>
            <a:r>
              <a:rPr lang="en-IN" sz="2700" b="0" dirty="0">
                <a:solidFill>
                  <a:schemeClr val="tx1"/>
                </a:solidFill>
                <a:latin typeface="+mn-lt"/>
              </a:rPr>
              <a:t>Yan et al. (2024) – </a:t>
            </a:r>
            <a:r>
              <a:rPr lang="en-IN" sz="2700" b="0" i="1" dirty="0">
                <a:solidFill>
                  <a:schemeClr val="tx1"/>
                </a:solidFill>
                <a:latin typeface="+mn-lt"/>
              </a:rPr>
              <a:t>Corrective Retrieval Augmented Generation (CRAG).</a:t>
            </a:r>
            <a:r>
              <a:rPr lang="en-IN" sz="2700" b="0" dirty="0">
                <a:solidFill>
                  <a:schemeClr val="tx1"/>
                </a:solidFill>
                <a:latin typeface="+mn-lt"/>
              </a:rPr>
              <a:t> Introduced corrective retrieval to handle poor or insufficient evidence. </a:t>
            </a:r>
          </a:p>
          <a:p>
            <a:pPr lvl="0"/>
            <a:r>
              <a:rPr lang="en-IN" sz="2700" b="0" dirty="0">
                <a:solidFill>
                  <a:schemeClr val="tx1"/>
                </a:solidFill>
                <a:latin typeface="+mn-lt"/>
              </a:rPr>
              <a:t>Jeong et al. (2024) – </a:t>
            </a:r>
            <a:r>
              <a:rPr lang="en-IN" sz="2700" b="0" i="1" dirty="0">
                <a:solidFill>
                  <a:schemeClr val="tx1"/>
                </a:solidFill>
                <a:latin typeface="+mn-lt"/>
              </a:rPr>
              <a:t>Adaptive-RAG.</a:t>
            </a:r>
            <a:r>
              <a:rPr lang="en-IN" sz="2700" b="0" dirty="0">
                <a:solidFill>
                  <a:schemeClr val="tx1"/>
                </a:solidFill>
                <a:latin typeface="+mn-lt"/>
              </a:rPr>
              <a:t> Proposed selecting retrieval strategies based on question complexity. </a:t>
            </a:r>
          </a:p>
          <a:p>
            <a:pPr lvl="0"/>
            <a:r>
              <a:rPr lang="en-IN" sz="2700" b="0" dirty="0">
                <a:solidFill>
                  <a:schemeClr val="tx1"/>
                </a:solidFill>
                <a:latin typeface="+mn-lt"/>
              </a:rPr>
              <a:t>Niu et al. (2024) – </a:t>
            </a:r>
            <a:r>
              <a:rPr lang="en-IN" sz="2700" b="0" i="1" dirty="0" err="1">
                <a:solidFill>
                  <a:schemeClr val="tx1"/>
                </a:solidFill>
                <a:latin typeface="+mn-lt"/>
              </a:rPr>
              <a:t>RAGTruth</a:t>
            </a:r>
            <a:r>
              <a:rPr lang="en-IN" sz="2700" b="0" i="1" dirty="0">
                <a:solidFill>
                  <a:schemeClr val="tx1"/>
                </a:solidFill>
                <a:latin typeface="+mn-lt"/>
              </a:rPr>
              <a:t>.</a:t>
            </a:r>
            <a:r>
              <a:rPr lang="en-IN" sz="2700" b="0" dirty="0">
                <a:solidFill>
                  <a:schemeClr val="tx1"/>
                </a:solidFill>
                <a:latin typeface="+mn-lt"/>
              </a:rPr>
              <a:t> Introduced a dataset for studying and detecting hallucinations in RAG systems.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8FC6C-763B-D62B-9397-FB1202E6E5A0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D4358431-1A34-09D1-2A0F-67ABAFD43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1C7A-B3E6-34D8-73B7-604AD5D2A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2EFBC7-B27F-87C6-B0AD-3760B113483D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3D4939E-38E8-8111-6EC1-A480174E67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EEEADC-7C7E-5D53-CDC0-156F6FB75BE7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9C26B0-9793-3460-6D5E-31DC956181E3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BAF24-E0F8-BF89-9EA0-8537EEEDDB69}"/>
              </a:ext>
            </a:extLst>
          </p:cNvPr>
          <p:cNvSpPr txBox="1"/>
          <p:nvPr/>
        </p:nvSpPr>
        <p:spPr>
          <a:xfrm>
            <a:off x="180236" y="1659822"/>
            <a:ext cx="1142818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 II</a:t>
            </a:r>
          </a:p>
          <a:p>
            <a:pPr algn="ctr">
              <a:defRPr/>
            </a:pPr>
            <a:r>
              <a:rPr lang="en-IN" sz="3600" b="1" dirty="0">
                <a:solidFill>
                  <a:srgbClr val="FFFFFF"/>
                </a:solidFill>
              </a:rPr>
              <a:t>Hierarchical Multi-Agent AI for Autonomous Task Decomposition, Planning, and Collaborative Execution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SOWMIYA C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T9954 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CRESCENT COLLEGE</a:t>
            </a:r>
          </a:p>
          <a:p>
            <a:pPr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9EBFB7-7355-908E-0E5F-173590ABB374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7261C3C-BE1A-BCEA-74F7-7A8D5DD26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BD5127-DD0F-4A37-7804-45687140C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4503" y="5198178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59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EC9E3-AD92-E82D-F47B-F355E352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86A1FF-7E93-E00B-BABA-7B043C1EE1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Multi-Agent AI uses multiple intelligent agents to solve complex tasks collaboratively.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The system divides a complex task into smaller subtasks using hierarchical task decomposition.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Different agents perform planning, reasoning, and execution according to their assigned roles.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Agents communicate and share results to improve coordination and task completion.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The proposed system aims to provide autonomous, efficient, and reliable task execution. 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9CA4B-18C4-9728-B7FA-5035E00C21B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78B6CB-7DB5-7FDC-582C-BA9DB281DAC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8A1647F-0A38-C395-EB5F-CFE92EB47A85}"/>
              </a:ext>
            </a:extLst>
          </p:cNvPr>
          <p:cNvSpPr txBox="1"/>
          <p:nvPr/>
        </p:nvSpPr>
        <p:spPr>
          <a:xfrm>
            <a:off x="3312827" y="57036"/>
            <a:ext cx="8879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235823-4463-B9DD-28B0-BEC01BEE5221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2" name="Picture 11" descr="LTM Limited (Formerly LTIMindtree Limited)">
            <a:extLst>
              <a:ext uri="{FF2B5EF4-FFF2-40B4-BE49-F238E27FC236}">
                <a16:creationId xmlns:a16="http://schemas.microsoft.com/office/drawing/2014/main" id="{EE31FBAF-7872-ED96-780D-3873EDECB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5C73D-05B8-F675-B0A5-5A77B8C3B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0974A3-C08F-E48B-2962-1F7D08CBE8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To develop a hierarchical multi-agent AI system for autonomous task solving.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To decompose complex tasks into smaller and manageable subtasks.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To assign subtasks to specialized agents based on their roles and capabilities.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To enable agents to communicate, coordinate, and share results effectively. 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To achieve efficient, autonomous, and reliable task planning and execution. 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ABEAE-EFB4-6659-060D-FD5D5CCE7D8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5CBD68-8EA0-0956-D3B9-C8686F379D7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14F8BD5-6353-6970-0C0A-D34C23A1D9C0}"/>
              </a:ext>
            </a:extLst>
          </p:cNvPr>
          <p:cNvSpPr txBox="1"/>
          <p:nvPr/>
        </p:nvSpPr>
        <p:spPr>
          <a:xfrm>
            <a:off x="3177915" y="57036"/>
            <a:ext cx="90140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A926B4-997D-C4DC-4A33-EB7EE8609D2B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172B98CA-6702-74A8-3F97-198D36C9F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02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1C90F-A9EF-A07D-8852-DEDFB6B22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4E91BA-9676-33B6-B7BB-66A4D38C5E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859757"/>
          </a:xfrm>
        </p:spPr>
        <p:txBody>
          <a:bodyPr/>
          <a:lstStyle/>
          <a:p>
            <a:pPr fontAlgn="t">
              <a:buNone/>
            </a:pPr>
            <a:r>
              <a:rPr lang="en-IN" dirty="0">
                <a:highlight>
                  <a:srgbClr val="FFFFFF"/>
                </a:highlight>
                <a:latin typeface="+mn-lt"/>
              </a:rPr>
              <a:t>1. Manager Agent</a:t>
            </a:r>
            <a:br>
              <a:rPr lang="en-IN" b="0" dirty="0">
                <a:highlight>
                  <a:srgbClr val="FFFFFF"/>
                </a:highlight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Decomposes the user goal into high-level tasks</a:t>
            </a:r>
            <a:r>
              <a:rPr lang="en-IN" b="0" dirty="0">
                <a:highlight>
                  <a:srgbClr val="FFFFFF"/>
                </a:highlight>
                <a:latin typeface="+mn-lt"/>
              </a:rPr>
              <a:t>.</a:t>
            </a:r>
          </a:p>
          <a:p>
            <a:pPr fontAlgn="t">
              <a:buNone/>
            </a:pPr>
            <a:r>
              <a:rPr lang="en-IN" dirty="0">
                <a:highlight>
                  <a:srgbClr val="FFFFFF"/>
                </a:highlight>
                <a:latin typeface="+mn-lt"/>
              </a:rPr>
              <a:t>2. Supervisor Agent</a:t>
            </a:r>
            <a:br>
              <a:rPr lang="en-IN" b="0" dirty="0">
                <a:highlight>
                  <a:srgbClr val="FFFFFF"/>
                </a:highlight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Monitors workflow and divides tasks into subtasks.</a:t>
            </a:r>
          </a:p>
          <a:p>
            <a:pPr fontAlgn="t">
              <a:buNone/>
            </a:pPr>
            <a:r>
              <a:rPr lang="en-IN" dirty="0">
                <a:highlight>
                  <a:srgbClr val="FFFFFF"/>
                </a:highlight>
                <a:latin typeface="+mn-lt"/>
              </a:rPr>
              <a:t>3. Worker Agent</a:t>
            </a:r>
            <a:br>
              <a:rPr lang="en-IN" b="0" dirty="0">
                <a:highlight>
                  <a:srgbClr val="FFFFFF"/>
                </a:highlight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Executes assigned tasks and generates outputs.</a:t>
            </a:r>
          </a:p>
          <a:p>
            <a:pPr fontAlgn="t">
              <a:buNone/>
            </a:pPr>
            <a:r>
              <a:rPr lang="en-IN" dirty="0">
                <a:highlight>
                  <a:srgbClr val="FFFFFF"/>
                </a:highlight>
                <a:latin typeface="+mn-lt"/>
              </a:rPr>
              <a:t>4. Shared Memory Module</a:t>
            </a:r>
            <a:br>
              <a:rPr lang="en-IN" b="0" dirty="0">
                <a:highlight>
                  <a:srgbClr val="FFFFFF"/>
                </a:highlight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Stores and shares information among agents.</a:t>
            </a:r>
          </a:p>
          <a:p>
            <a:pPr fontAlgn="t">
              <a:buNone/>
            </a:pPr>
            <a:r>
              <a:rPr lang="en-IN" dirty="0">
                <a:highlight>
                  <a:srgbClr val="FFFFFF"/>
                </a:highlight>
                <a:latin typeface="+mn-lt"/>
              </a:rPr>
              <a:t>5. Result Aggregation Module</a:t>
            </a:r>
            <a:br>
              <a:rPr lang="en-IN" b="0" dirty="0">
                <a:highlight>
                  <a:srgbClr val="FFFFFF"/>
                </a:highlight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Combines agent outputs and produces the final result.</a:t>
            </a:r>
          </a:p>
          <a:p>
            <a:pPr lvl="1"/>
            <a:endParaRPr lang="en-US" sz="2800" dirty="0">
              <a:solidFill>
                <a:srgbClr val="1C3898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sz="2400" b="0" dirty="0">
              <a:solidFill>
                <a:srgbClr val="242424"/>
              </a:solidFill>
              <a:highlight>
                <a:srgbClr val="FFFFFF"/>
              </a:highlight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1AA0F-A5C1-332F-06CB-F9FAEF85E22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1F29EA-35DA-C82F-60E8-90EDCC46F3E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661CB7-DC33-1BCD-01FC-8F464A7F1413}"/>
              </a:ext>
            </a:extLst>
          </p:cNvPr>
          <p:cNvSpPr txBox="1"/>
          <p:nvPr/>
        </p:nvSpPr>
        <p:spPr>
          <a:xfrm>
            <a:off x="3192905" y="57036"/>
            <a:ext cx="89990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2C130D-1264-261A-F11B-0C1B3C480DFB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CB55373D-0B1A-344E-CE8E-EF3F5C19D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73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00603-AE0C-71B0-BE69-0BE301B5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869DEF-76DA-9CF9-FF17-B187F3627A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Manual task planning and execution become difficult when handling complex goals.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Traditional systems lack intelligent task decomposition and autonomous coordination.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Managing multiple tasks and subtasks requires significant human effort and monitoring.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Existing approaches do not efficiently support collaborative execution among multiple agents.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There is a need for a hierarchical multi-agent system that can automatically decompose, plan, coordinate, and execute tasks with minimal human intervention.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060CC-A1D9-F7C8-EAEF-1CD17A8537AC}"/>
              </a:ext>
            </a:extLst>
          </p:cNvPr>
          <p:cNvSpPr txBox="1"/>
          <p:nvPr/>
        </p:nvSpPr>
        <p:spPr>
          <a:xfrm>
            <a:off x="106094" y="505694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7CF22-0028-0322-7FB4-13A1EF61934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B28B686-8F66-C7BE-E899-1F77BA017CD2}"/>
              </a:ext>
            </a:extLst>
          </p:cNvPr>
          <p:cNvSpPr txBox="1"/>
          <p:nvPr/>
        </p:nvSpPr>
        <p:spPr>
          <a:xfrm>
            <a:off x="3207895" y="57036"/>
            <a:ext cx="89841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6401B0-82D7-CE8E-94C9-A268BB3CF51B}"/>
              </a:ext>
            </a:extLst>
          </p:cNvPr>
          <p:cNvSpPr/>
          <p:nvPr/>
        </p:nvSpPr>
        <p:spPr>
          <a:xfrm>
            <a:off x="10527540" y="6534194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E817AA55-CE89-5ED4-D5F7-EA9EA7A0D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26070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5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5E478-0204-5B9D-B6F2-2CE236C06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06CC73-10F5-A57D-5A2B-8FEA50E36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996" y="1300245"/>
            <a:ext cx="5763804" cy="4876718"/>
          </a:xfrm>
        </p:spPr>
        <p:txBody>
          <a:bodyPr>
            <a:normAutofit fontScale="77500" lnSpcReduction="20000"/>
          </a:bodyPr>
          <a:lstStyle/>
          <a:p>
            <a:pPr fontAlgn="t">
              <a:buNone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Step 1 - Goal Input</a:t>
            </a:r>
            <a:endParaRPr lang="en-IN" b="0" dirty="0">
              <a:solidFill>
                <a:schemeClr val="accent1"/>
              </a:solidFill>
              <a:latin typeface="+mn-lt"/>
            </a:endParaRPr>
          </a:p>
          <a:p>
            <a:pPr fontAlgn="t"/>
            <a:r>
              <a:rPr lang="en-IN" b="0" dirty="0">
                <a:solidFill>
                  <a:schemeClr val="tx1"/>
                </a:solidFill>
                <a:latin typeface="+mn-lt"/>
              </a:rPr>
              <a:t>User provides a high-level goal to the system.</a:t>
            </a:r>
          </a:p>
          <a:p>
            <a:pPr fontAlgn="t">
              <a:buNone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Step 2 - Task Decomposition</a:t>
            </a:r>
            <a:endParaRPr lang="en-IN" b="0" dirty="0">
              <a:solidFill>
                <a:schemeClr val="accent1"/>
              </a:solidFill>
              <a:latin typeface="+mn-lt"/>
            </a:endParaRPr>
          </a:p>
          <a:p>
            <a:pPr fontAlgn="t"/>
            <a:r>
              <a:rPr lang="en-IN" b="0" dirty="0">
                <a:solidFill>
                  <a:schemeClr val="tx1"/>
                </a:solidFill>
                <a:latin typeface="+mn-lt"/>
              </a:rPr>
              <a:t>Manager Agent analyses the goal and creates major tasks.</a:t>
            </a:r>
          </a:p>
          <a:p>
            <a:pPr fontAlgn="t">
              <a:buNone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Step 3 - Subtask Generation</a:t>
            </a:r>
            <a:endParaRPr lang="en-IN" b="0" dirty="0">
              <a:solidFill>
                <a:schemeClr val="accent1"/>
              </a:solidFill>
              <a:latin typeface="+mn-lt"/>
            </a:endParaRPr>
          </a:p>
          <a:p>
            <a:pPr fontAlgn="t"/>
            <a:r>
              <a:rPr lang="en-IN" b="0" dirty="0">
                <a:solidFill>
                  <a:schemeClr val="tx1"/>
                </a:solidFill>
                <a:latin typeface="+mn-lt"/>
              </a:rPr>
              <a:t>Supervisor Agent breaks major tasks into smaller actionable subtasks.</a:t>
            </a:r>
          </a:p>
          <a:p>
            <a:pPr fontAlgn="t">
              <a:buNone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Step 4 - Task Execution</a:t>
            </a:r>
            <a:endParaRPr lang="en-IN" b="0" dirty="0">
              <a:solidFill>
                <a:schemeClr val="accent1"/>
              </a:solidFill>
              <a:latin typeface="+mn-lt"/>
            </a:endParaRPr>
          </a:p>
          <a:p>
            <a:pPr fontAlgn="t"/>
            <a:r>
              <a:rPr lang="en-IN" b="0" dirty="0">
                <a:solidFill>
                  <a:schemeClr val="tx1"/>
                </a:solidFill>
                <a:latin typeface="+mn-lt"/>
              </a:rPr>
              <a:t>Worker Agents execute the assigned subtasks collaboratively.</a:t>
            </a:r>
          </a:p>
          <a:p>
            <a:pPr fontAlgn="t">
              <a:buNone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Step 5 - Result Generation</a:t>
            </a:r>
            <a:endParaRPr lang="en-IN" b="0" dirty="0">
              <a:solidFill>
                <a:schemeClr val="accent1"/>
              </a:solidFill>
              <a:latin typeface="+mn-lt"/>
            </a:endParaRPr>
          </a:p>
          <a:p>
            <a:pPr fontAlgn="t"/>
            <a:r>
              <a:rPr lang="en-IN" b="0" dirty="0">
                <a:solidFill>
                  <a:schemeClr val="tx1"/>
                </a:solidFill>
                <a:latin typeface="+mn-lt"/>
              </a:rPr>
              <a:t>Shared Memory stores outputs and the system consolidates final results.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009032-D531-088A-D3D8-DF0DE55E75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349242"/>
            <a:ext cx="6130310" cy="45932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66CC0C-9DCC-8893-3AD1-F06369719E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F5A0D2-C640-C9AA-7F76-DF50CE3626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1F285D7-9B4C-E09A-5645-314E8CF61899}"/>
              </a:ext>
            </a:extLst>
          </p:cNvPr>
          <p:cNvSpPr txBox="1"/>
          <p:nvPr/>
        </p:nvSpPr>
        <p:spPr>
          <a:xfrm>
            <a:off x="2593299" y="57036"/>
            <a:ext cx="9598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CA5CC0-10B1-282C-4F52-A5ACD2C4F33F}"/>
              </a:ext>
            </a:extLst>
          </p:cNvPr>
          <p:cNvSpPr/>
          <p:nvPr/>
        </p:nvSpPr>
        <p:spPr>
          <a:xfrm>
            <a:off x="10527540" y="6534194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1" name="Picture 10" descr="LTM Limited (Formerly LTIMindtree Limited)">
            <a:extLst>
              <a:ext uri="{FF2B5EF4-FFF2-40B4-BE49-F238E27FC236}">
                <a16:creationId xmlns:a16="http://schemas.microsoft.com/office/drawing/2014/main" id="{F41AF52F-A43E-E021-E220-C29D9F03E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26070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42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3729" y="1275175"/>
            <a:ext cx="10624338" cy="4949696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</a:rPr>
              <a:t>Approach: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The proposed system uses a Hierarchical Multi-Agent Architecture to automatically decompose user goals into tasks and subtasks. Multiple agents collaborate through shared memory to execute tasks efficiently and generate consolidated results autonomously.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Algorithms:</a:t>
            </a:r>
            <a:endParaRPr lang="en-IN" b="0" dirty="0">
              <a:solidFill>
                <a:schemeClr val="accent1"/>
              </a:solidFill>
              <a:latin typeface="+mn-lt"/>
            </a:endParaRPr>
          </a:p>
          <a:p>
            <a:pPr marL="342900" lvl="0" indent="-342900" fontAlgn="t"/>
            <a:r>
              <a:rPr lang="en-IN" dirty="0">
                <a:latin typeface="+mn-lt"/>
              </a:rPr>
              <a:t>Goal-Based Input Processing</a:t>
            </a:r>
            <a:br>
              <a:rPr lang="en-IN" b="0" dirty="0"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latin typeface="+mn-lt"/>
              </a:rPr>
              <a:t>Accepts a high-level goal from the user for execution.</a:t>
            </a:r>
          </a:p>
          <a:p>
            <a:pPr marL="342900" lvl="0" indent="-342900" fontAlgn="t"/>
            <a:r>
              <a:rPr lang="en-IN" dirty="0">
                <a:latin typeface="+mn-lt"/>
              </a:rPr>
              <a:t>Hierarchical Task Decomposition</a:t>
            </a:r>
            <a:br>
              <a:rPr lang="en-IN" b="0" dirty="0"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latin typeface="+mn-lt"/>
              </a:rPr>
              <a:t>Breaks complex goals into manageable tasks and subtasks.</a:t>
            </a:r>
          </a:p>
          <a:p>
            <a:pPr marL="0" indent="0" fontAlgn="t">
              <a:buNone/>
            </a:pPr>
            <a:endParaRPr lang="en-IN" dirty="0">
              <a:latin typeface="+mn-lt"/>
            </a:endParaRPr>
          </a:p>
          <a:p>
            <a:pPr marL="0" lvl="0" indent="0" fontAlgn="t">
              <a:buNone/>
            </a:pPr>
            <a:endParaRPr lang="en-IN" b="0" dirty="0">
              <a:solidFill>
                <a:schemeClr val="tx1"/>
              </a:solidFill>
              <a:latin typeface="+mn-lt"/>
            </a:endParaRPr>
          </a:p>
          <a:p>
            <a:pPr marL="0" lvl="0" indent="0" fontAlgn="t">
              <a:buNone/>
            </a:pPr>
            <a:endParaRPr lang="en-IN" b="0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477719" y="57036"/>
            <a:ext cx="8714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B594B9-8B47-068A-FCD6-B0F9E2AC6DF6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6776ACB1-03FA-7AF9-856B-990EB024B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41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7D797-FC70-ED3E-8866-7C3AC7F94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2C228C-3EC6-CFEE-CFB4-AF7FE7E6C5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3729" y="1275175"/>
            <a:ext cx="10624338" cy="4949696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Algorithms:</a:t>
            </a:r>
            <a:endParaRPr lang="en-IN" b="0" dirty="0">
              <a:solidFill>
                <a:schemeClr val="accent1"/>
              </a:solidFill>
              <a:latin typeface="+mn-lt"/>
            </a:endParaRPr>
          </a:p>
          <a:p>
            <a:pPr marL="342900" lvl="0" indent="-342900" fontAlgn="t"/>
            <a:r>
              <a:rPr lang="en-IN" dirty="0">
                <a:latin typeface="+mn-lt"/>
              </a:rPr>
              <a:t>Multi-Agent Collaboration</a:t>
            </a:r>
            <a:br>
              <a:rPr lang="en-IN" b="0" dirty="0"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latin typeface="+mn-lt"/>
              </a:rPr>
              <a:t>Enables Manager, Supervisor, and Worker agents to work together.</a:t>
            </a:r>
          </a:p>
          <a:p>
            <a:pPr marL="342900" lvl="0" indent="-342900" fontAlgn="t"/>
            <a:r>
              <a:rPr lang="en-IN" dirty="0">
                <a:latin typeface="+mn-lt"/>
              </a:rPr>
              <a:t>Shared Memory Coordination</a:t>
            </a:r>
            <a:br>
              <a:rPr lang="en-IN" b="0" dirty="0"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latin typeface="+mn-lt"/>
              </a:rPr>
              <a:t>Stores and shares task information among agents for efficient execution.</a:t>
            </a:r>
          </a:p>
          <a:p>
            <a:pPr marL="342900" lvl="0" indent="-342900" fontAlgn="t"/>
            <a:r>
              <a:rPr lang="en-IN" dirty="0">
                <a:latin typeface="+mn-lt"/>
              </a:rPr>
              <a:t>Autonomous Result Generation</a:t>
            </a:r>
            <a:br>
              <a:rPr lang="en-IN" b="0" dirty="0"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latin typeface="+mn-lt"/>
              </a:rPr>
              <a:t>Aggregates outputs from all agents and produces the final result.</a:t>
            </a:r>
          </a:p>
          <a:p>
            <a:pPr marL="0" indent="0" fontAlgn="t">
              <a:buNone/>
            </a:pPr>
            <a:r>
              <a:rPr lang="en-IN" dirty="0">
                <a:latin typeface="+mn-lt"/>
              </a:rPr>
              <a:t>Tools </a:t>
            </a:r>
          </a:p>
          <a:p>
            <a:pPr marL="0" indent="0" fontAlgn="t">
              <a:buNone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Python, Streamlit, Groq API, LangChain, Python Dotenv, VS Code, Git, GitHub, Railway, Pytest</a:t>
            </a:r>
          </a:p>
          <a:p>
            <a:pPr marL="0" lvl="0" indent="0" fontAlgn="t">
              <a:buNone/>
            </a:pPr>
            <a:endParaRPr lang="en-IN" b="0" dirty="0">
              <a:solidFill>
                <a:schemeClr val="tx1"/>
              </a:solidFill>
              <a:latin typeface="+mn-lt"/>
            </a:endParaRPr>
          </a:p>
          <a:p>
            <a:pPr marL="0" lvl="0" indent="0" fontAlgn="t">
              <a:buNone/>
            </a:pPr>
            <a:endParaRPr lang="en-IN" b="0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57D67-E349-6F4D-C70C-190200E68F8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9E016C-C138-C570-6912-7314C4C3EE6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A6CEEE2-0A31-D234-12FE-EA404328E9C5}"/>
              </a:ext>
            </a:extLst>
          </p:cNvPr>
          <p:cNvSpPr txBox="1"/>
          <p:nvPr/>
        </p:nvSpPr>
        <p:spPr>
          <a:xfrm>
            <a:off x="3477719" y="57036"/>
            <a:ext cx="8714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C4C8E5-0FE3-4C67-6547-5FA366FA5A72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4D523A7D-22F5-84AF-3F10-4DEAC3A0E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5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FFC54-83A6-5C44-AAB0-6A5E64E1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8AAC3E-7C5D-168D-F6FE-C023A73DAD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395018"/>
          </a:xfrm>
        </p:spPr>
        <p:txBody>
          <a:bodyPr/>
          <a:lstStyle/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Complex goals were successfully divided into smaller and manageable tasks.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Multi-agent collaboration improved task coordination and execution efficiency.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Shared memory enabled smooth information exchange between agents.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The system generated structured and organized execution plans automatically.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The framework worked effectively across different domains and use cases.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E05732-C49D-D5F7-42D3-C05A2617D82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5CE368-08EC-7EFD-76F2-2F32231A413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B94A33F-909D-7C2C-F558-D1D388315E5F}"/>
              </a:ext>
            </a:extLst>
          </p:cNvPr>
          <p:cNvSpPr txBox="1"/>
          <p:nvPr/>
        </p:nvSpPr>
        <p:spPr>
          <a:xfrm>
            <a:off x="2998033" y="57036"/>
            <a:ext cx="9193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E20B43-3654-415B-DAAD-3C3AFFA54B9A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395C49C9-EBC9-AB11-4EDB-BE3B056F3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91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DD3C3-0446-7362-9121-5D8DCC639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14738C-6A91-25C2-38A7-942E440E9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A Hierarchical Multi-Agent AI system was successfully developed and implemented.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The proposed framework automated task decomposition, planning, and execution.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The Manager, Supervisor, and Worker agents efficiently handled complex goals.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The system reduced manual effort and improved overall workflow management.</a:t>
            </a:r>
          </a:p>
          <a:p>
            <a:pPr marL="342900" lvl="0" indent="-342900" fontAlgn="t"/>
            <a:r>
              <a:rPr lang="en-IN" b="0" dirty="0">
                <a:solidFill>
                  <a:schemeClr val="tx1"/>
                </a:solidFill>
                <a:latin typeface="+mn-lt"/>
              </a:rPr>
              <a:t>The project demonstrates the potential of multi-agent AI systems for real-world task automation.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A1523-27E7-4E79-3B03-6649CC49560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3089DC-9155-49B6-F19B-26F09436AB1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237FEB3-14F1-E43B-630B-9CC61AC35DD6}"/>
              </a:ext>
            </a:extLst>
          </p:cNvPr>
          <p:cNvSpPr txBox="1"/>
          <p:nvPr/>
        </p:nvSpPr>
        <p:spPr>
          <a:xfrm>
            <a:off x="2053653" y="57036"/>
            <a:ext cx="101383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30A0E2-D0B6-983E-2334-C0A76316D7D8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9308031A-2FE1-8FCA-9755-7AD128846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01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1E152-9B58-E22F-F642-E4DCE2D2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4C1065-59D2-C65E-62C3-05B47C704CDC}"/>
              </a:ext>
            </a:extLst>
          </p:cNvPr>
          <p:cNvSpPr txBox="1"/>
          <p:nvPr/>
        </p:nvSpPr>
        <p:spPr>
          <a:xfrm>
            <a:off x="221274" y="53296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Result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F07B2C-B27B-BA75-95CC-F7DC1A6B961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1AD3C70-4AE9-8866-FDFE-E6A64DB4B72F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2" name="Picture 21" descr="LTM Limited (Formerly LTIMindtree Limited)">
            <a:extLst>
              <a:ext uri="{FF2B5EF4-FFF2-40B4-BE49-F238E27FC236}">
                <a16:creationId xmlns:a16="http://schemas.microsoft.com/office/drawing/2014/main" id="{BC6ABB5B-DA8A-21C5-8760-F830BB9E5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00EC42B-3780-5ECF-0205-8CEF582112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04734" y="1404282"/>
            <a:ext cx="5615066" cy="4261961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A0A69B2-72AD-E0B7-20A2-3EA8508EE8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2" y="1548169"/>
            <a:ext cx="5880847" cy="38865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F24773-091C-AA26-147E-24D9A2575CA5}"/>
              </a:ext>
            </a:extLst>
          </p:cNvPr>
          <p:cNvSpPr txBox="1"/>
          <p:nvPr/>
        </p:nvSpPr>
        <p:spPr>
          <a:xfrm>
            <a:off x="3147934" y="-21035"/>
            <a:ext cx="91402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800" dirty="0"/>
              <a:t>Multi-Agent AI for Autonomous Task Decomposition, Planning, and Collaborative Execution</a:t>
            </a:r>
          </a:p>
          <a:p>
            <a:pPr algn="r"/>
            <a:endParaRPr lang="en-US" sz="1800" dirty="0"/>
          </a:p>
          <a:p>
            <a:pPr algn="r"/>
            <a:endParaRPr lang="en-US" sz="1800" dirty="0"/>
          </a:p>
          <a:p>
            <a:pPr algn="r"/>
            <a:endParaRPr lang="en-US" sz="1800" dirty="0"/>
          </a:p>
          <a:p>
            <a:pPr algn="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9356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27E80-5D1A-8721-807F-7937A80C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DDA578-6E5C-1C9F-2E71-8772D4F8C6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endParaRPr lang="en-IN" sz="24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</a:rPr>
              <a:t>1.Hong, S., et al. (2023). MetaGPT: Meta Programming for A Multi-Agent Collaborative Framework. </a:t>
            </a:r>
            <a:r>
              <a:rPr lang="en-IN" sz="2400" b="0" i="1" dirty="0">
                <a:solidFill>
                  <a:schemeClr val="tx1"/>
                </a:solidFill>
              </a:rPr>
              <a:t>arXiv</a:t>
            </a:r>
            <a:r>
              <a:rPr lang="en-IN" sz="2400" b="0" dirty="0">
                <a:solidFill>
                  <a:schemeClr val="tx1"/>
                </a:solidFill>
              </a:rPr>
              <a:t>.</a:t>
            </a:r>
            <a:br>
              <a:rPr lang="en-IN" sz="2400" b="0" dirty="0">
                <a:solidFill>
                  <a:schemeClr val="tx1"/>
                </a:solidFill>
              </a:rPr>
            </a:br>
            <a:r>
              <a:rPr lang="en-IN" sz="2400" b="0" dirty="0">
                <a:solidFill>
                  <a:schemeClr val="tx1"/>
                </a:solidFill>
              </a:rPr>
              <a:t>2.Wu, Q., et al. (2023). AutoGen: Enabling Next-Gen LLM Applications via Multi-Agent Conversation. </a:t>
            </a:r>
            <a:r>
              <a:rPr lang="en-IN" sz="2400" b="0" i="1" dirty="0">
                <a:solidFill>
                  <a:schemeClr val="tx1"/>
                </a:solidFill>
              </a:rPr>
              <a:t>arXiv</a:t>
            </a:r>
            <a:r>
              <a:rPr lang="en-IN" sz="24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</a:rPr>
              <a:t>3.Prasad, A., et al. (2024). ADaPT: As-Needed Decomposition and Planning with Language Models. </a:t>
            </a:r>
            <a:r>
              <a:rPr lang="en-IN" sz="2400" b="0" i="1" dirty="0">
                <a:solidFill>
                  <a:schemeClr val="tx1"/>
                </a:solidFill>
              </a:rPr>
              <a:t>Findings of NAACL 2024</a:t>
            </a:r>
            <a:r>
              <a:rPr lang="en-IN" sz="24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</a:rPr>
              <a:t>4.Zhang, C., et al. (2025). Planning with Multi-Constraints via Collaborative Language Agents. </a:t>
            </a:r>
            <a:r>
              <a:rPr lang="en-IN" sz="2400" b="0" i="1" dirty="0">
                <a:solidFill>
                  <a:schemeClr val="tx1"/>
                </a:solidFill>
              </a:rPr>
              <a:t>Proceedings of COLING 2025</a:t>
            </a:r>
            <a:r>
              <a:rPr lang="en-IN" sz="2400" b="0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</a:rPr>
              <a:t>5.Xu, T., et al. (2026). Verification-Aware Planning for Multi-Agent Systems. </a:t>
            </a:r>
            <a:r>
              <a:rPr lang="en-IN" sz="2400" b="0" i="1" dirty="0">
                <a:solidFill>
                  <a:schemeClr val="tx1"/>
                </a:solidFill>
              </a:rPr>
              <a:t>Proceedings of EACL 2026</a:t>
            </a:r>
            <a:r>
              <a:rPr lang="en-IN" sz="2400" b="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3F6DA-3959-102A-8A8E-537782FF0BC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3A6EC4-AC07-6FB7-C26A-E4DE193A66C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4400104-5692-8BFF-8BE7-0DEC9304D7E0}"/>
              </a:ext>
            </a:extLst>
          </p:cNvPr>
          <p:cNvSpPr txBox="1"/>
          <p:nvPr/>
        </p:nvSpPr>
        <p:spPr>
          <a:xfrm>
            <a:off x="2293495" y="57036"/>
            <a:ext cx="98985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7239E-7A48-0AEF-1E58-13CF49C3B366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D6EB11C9-01CA-E368-6E1F-F089CE5CB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83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1889</Words>
  <Application>Microsoft Office PowerPoint</Application>
  <PresentationFormat>Widescreen</PresentationFormat>
  <Paragraphs>248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Sowmiya C</cp:lastModifiedBy>
  <cp:revision>21</cp:revision>
  <dcterms:created xsi:type="dcterms:W3CDTF">2024-05-13T10:33:11Z</dcterms:created>
  <dcterms:modified xsi:type="dcterms:W3CDTF">2026-10-14T16:25:19Z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